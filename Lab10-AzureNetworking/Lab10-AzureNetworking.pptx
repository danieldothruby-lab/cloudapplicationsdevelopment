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4"/>
  </p:sldMasterIdLst>
  <p:notesMasterIdLst>
    <p:notesMasterId r:id="rId27"/>
  </p:notesMasterIdLst>
  <p:sldIdLst>
    <p:sldId id="256" r:id="rId5"/>
    <p:sldId id="319" r:id="rId6"/>
    <p:sldId id="320" r:id="rId7"/>
    <p:sldId id="321" r:id="rId8"/>
    <p:sldId id="322" r:id="rId9"/>
    <p:sldId id="323" r:id="rId10"/>
    <p:sldId id="340" r:id="rId11"/>
    <p:sldId id="325" r:id="rId12"/>
    <p:sldId id="326" r:id="rId13"/>
    <p:sldId id="327" r:id="rId14"/>
    <p:sldId id="328" r:id="rId15"/>
    <p:sldId id="329" r:id="rId16"/>
    <p:sldId id="330" r:id="rId17"/>
    <p:sldId id="341" r:id="rId18"/>
    <p:sldId id="331" r:id="rId19"/>
    <p:sldId id="332" r:id="rId20"/>
    <p:sldId id="333" r:id="rId21"/>
    <p:sldId id="334" r:id="rId22"/>
    <p:sldId id="335" r:id="rId23"/>
    <p:sldId id="337" r:id="rId24"/>
    <p:sldId id="338" r:id="rId25"/>
    <p:sldId id="339" r:id="rId26"/>
  </p:sldIdLst>
  <p:sldSz cx="12192000" cy="6858000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10" autoAdjust="0"/>
    <p:restoredTop sz="94700" autoAdjust="0"/>
  </p:normalViewPr>
  <p:slideViewPr>
    <p:cSldViewPr>
      <p:cViewPr varScale="1">
        <p:scale>
          <a:sx n="227" d="100"/>
          <a:sy n="227" d="100"/>
        </p:scale>
        <p:origin x="455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C3DD1-6B4C-423E-A696-BD4124EC33BC}" type="datetimeFigureOut">
              <a:rPr lang="cs-CZ" smtClean="0"/>
              <a:pPr/>
              <a:t>30.03.2026</a:t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764F6-20DF-4459-862B-64827B1A397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9881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 bloku A jsme řešili: Existuje mezi těmito dvěma sítěmi cesta a co na ní smí téct?</a:t>
            </a:r>
          </a:p>
          <a:p>
            <a:r>
              <a:t>V bloku B budeme řešit: Jak se aplikace bezpečně připojí ke konkrétní cloudové službě?</a:t>
            </a:r>
          </a:p>
          <a:p>
            <a:r>
              <a:t>Správný nástroj je pokaždé jiný.</a:t>
            </a:r>
          </a:p>
          <a:p>
            <a:r>
              <a:t>Peering propojuje sítě. Private Link připojuje službu privátně do sítě.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435" y="3886200"/>
            <a:ext cx="9355765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29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05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1424" y="3056980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66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1424" y="1556793"/>
            <a:ext cx="10363200" cy="136815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spc="-130" baseline="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36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569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073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706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685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0" spc="-150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 spc="-12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827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0" spc="-150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 spc="-12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942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341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20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8A939CA1-1C32-41FC-8226-238AA43A91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8048" y="3861048"/>
            <a:ext cx="5486400" cy="28289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6F2F8-F70A-47D7-AD2D-4F12E71A0C18}" type="datetimeFigureOut">
              <a:rPr lang="cs-CZ" smtClean="0"/>
              <a:t>30.03.2026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387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0" kern="1200" spc="-300" baseline="0">
          <a:solidFill>
            <a:srgbClr val="2097D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 spc="-20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 spc="-19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-18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 spc="-17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 spc="-13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9456" y="3200994"/>
            <a:ext cx="8782744" cy="2028206"/>
          </a:xfrm>
        </p:spPr>
        <p:txBody>
          <a:bodyPr>
            <a:normAutofit fontScale="90000"/>
          </a:bodyPr>
          <a:lstStyle/>
          <a:p>
            <a:r>
              <a:rPr dirty="0"/>
              <a:t>Azu</a:t>
            </a:r>
            <a:r>
              <a:rPr lang="cs-CZ" dirty="0"/>
              <a:t>re Networking v praxi</a:t>
            </a:r>
            <a:br>
              <a:rPr lang="cs-CZ" dirty="0"/>
            </a:br>
            <a:r>
              <a:rPr lang="cs-CZ" sz="4000" dirty="0" err="1">
                <a:solidFill>
                  <a:schemeClr val="bg2">
                    <a:lumMod val="10000"/>
                  </a:schemeClr>
                </a:solidFill>
              </a:rPr>
              <a:t>VNETs</a:t>
            </a:r>
            <a:r>
              <a:rPr lang="cs-CZ" sz="4000" dirty="0">
                <a:solidFill>
                  <a:schemeClr val="bg2">
                    <a:lumMod val="10000"/>
                  </a:schemeClr>
                </a:solidFill>
              </a:rPr>
              <a:t>/</a:t>
            </a:r>
            <a:r>
              <a:rPr lang="cs-CZ" sz="4000" dirty="0" err="1">
                <a:solidFill>
                  <a:schemeClr val="bg2">
                    <a:lumMod val="10000"/>
                  </a:schemeClr>
                </a:solidFill>
              </a:rPr>
              <a:t>Subnets</a:t>
            </a:r>
            <a:r>
              <a:rPr lang="cs-CZ" sz="4000" dirty="0">
                <a:solidFill>
                  <a:schemeClr val="bg2">
                    <a:lumMod val="10000"/>
                  </a:schemeClr>
                </a:solidFill>
              </a:rPr>
              <a:t> · </a:t>
            </a:r>
            <a:r>
              <a:rPr lang="cs-CZ" sz="4000" dirty="0" err="1">
                <a:solidFill>
                  <a:schemeClr val="bg2">
                    <a:lumMod val="10000"/>
                  </a:schemeClr>
                </a:solidFill>
              </a:rPr>
              <a:t>peering</a:t>
            </a:r>
            <a:r>
              <a:rPr lang="cs-CZ" sz="4000" dirty="0">
                <a:solidFill>
                  <a:schemeClr val="bg2">
                    <a:lumMod val="10000"/>
                  </a:schemeClr>
                </a:solidFill>
              </a:rPr>
              <a:t> · NSG · </a:t>
            </a:r>
            <a:r>
              <a:rPr lang="cs-CZ" sz="4000" dirty="0" err="1">
                <a:solidFill>
                  <a:schemeClr val="bg2">
                    <a:lumMod val="10000"/>
                  </a:schemeClr>
                </a:solidFill>
              </a:rPr>
              <a:t>Private</a:t>
            </a:r>
            <a:r>
              <a:rPr lang="cs-CZ" sz="4000" dirty="0">
                <a:solidFill>
                  <a:schemeClr val="bg2">
                    <a:lumMod val="10000"/>
                  </a:schemeClr>
                </a:solidFill>
              </a:rPr>
              <a:t> Link</a:t>
            </a:r>
            <a:br>
              <a:rPr lang="cs-CZ" dirty="0"/>
            </a:br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body" idx="1"/>
          </p:nvPr>
        </p:nvSpPr>
        <p:spPr>
          <a:xfrm>
            <a:off x="1199456" y="1700808"/>
            <a:ext cx="8782744" cy="1368152"/>
          </a:xfrm>
        </p:spPr>
        <p:txBody>
          <a:bodyPr/>
          <a:lstStyle/>
          <a:p>
            <a:r>
              <a:rPr lang="cs-CZ" sz="2800" dirty="0"/>
              <a:t>Daniel Hrubý</a:t>
            </a:r>
          </a:p>
          <a:p>
            <a:r>
              <a:rPr lang="cs-CZ" sz="2000" dirty="0" err="1"/>
              <a:t>Projectmanager</a:t>
            </a:r>
            <a:r>
              <a:rPr lang="cs-CZ" sz="2000" dirty="0"/>
              <a:t> in HAVIT</a:t>
            </a:r>
            <a:endParaRPr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263351" y="203498"/>
            <a:ext cx="11665297" cy="113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 si odnést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</a:t>
            </a:r>
            <a:r>
              <a:rPr dirty="0" err="1"/>
              <a:t>Proč</a:t>
            </a:r>
            <a:r>
              <a:rPr dirty="0"/>
              <a:t> </a:t>
            </a:r>
            <a:r>
              <a:rPr dirty="0" err="1"/>
              <a:t>vůbec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?</a:t>
            </a:r>
          </a:p>
          <a:p>
            <a:pPr lvl="1"/>
            <a:r>
              <a:rPr dirty="0" err="1"/>
              <a:t>Jakmile</a:t>
            </a:r>
            <a:r>
              <a:rPr dirty="0"/>
              <a:t> </a:t>
            </a:r>
            <a:r>
              <a:rPr dirty="0" err="1"/>
              <a:t>řešíme</a:t>
            </a:r>
            <a:r>
              <a:rPr dirty="0"/>
              <a:t> </a:t>
            </a:r>
            <a:r>
              <a:rPr dirty="0" err="1"/>
              <a:t>izolaci</a:t>
            </a:r>
            <a:r>
              <a:rPr dirty="0"/>
              <a:t>, 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komunikaci</a:t>
            </a:r>
            <a:r>
              <a:rPr dirty="0"/>
              <a:t> a </a:t>
            </a:r>
            <a:r>
              <a:rPr dirty="0" err="1"/>
              <a:t>firemní</a:t>
            </a:r>
            <a:r>
              <a:rPr dirty="0"/>
              <a:t> </a:t>
            </a:r>
            <a:r>
              <a:rPr dirty="0" err="1"/>
              <a:t>architekturu</a:t>
            </a:r>
            <a:r>
              <a:rPr dirty="0"/>
              <a:t>, </a:t>
            </a:r>
            <a:r>
              <a:rPr dirty="0" err="1"/>
              <a:t>samotný</a:t>
            </a:r>
            <a:r>
              <a:rPr dirty="0"/>
              <a:t> PaaS endpoint </a:t>
            </a:r>
            <a:r>
              <a:rPr lang="cs-CZ" dirty="0"/>
              <a:t>většinou </a:t>
            </a:r>
            <a:r>
              <a:rPr dirty="0" err="1"/>
              <a:t>nestačí</a:t>
            </a:r>
            <a:r>
              <a:rPr dirty="0"/>
              <a:t>.</a:t>
            </a:r>
          </a:p>
          <a:p>
            <a:r>
              <a:rPr dirty="0"/>
              <a:t>2. </a:t>
            </a:r>
            <a:r>
              <a:rPr dirty="0" err="1"/>
              <a:t>Síť</a:t>
            </a:r>
            <a:r>
              <a:rPr dirty="0"/>
              <a:t> ↔ </a:t>
            </a:r>
            <a:r>
              <a:rPr lang="cs-CZ" dirty="0"/>
              <a:t>S</a:t>
            </a:r>
            <a:r>
              <a:rPr dirty="0" err="1"/>
              <a:t>íť</a:t>
            </a:r>
            <a:r>
              <a:rPr lang="cs-CZ" dirty="0"/>
              <a:t> – Blok A</a:t>
            </a:r>
            <a:endParaRPr dirty="0"/>
          </a:p>
          <a:p>
            <a:pPr lvl="1"/>
            <a:r>
              <a:rPr dirty="0" err="1"/>
              <a:t>VNet</a:t>
            </a:r>
            <a:r>
              <a:rPr dirty="0"/>
              <a:t> peering </a:t>
            </a:r>
            <a:r>
              <a:rPr dirty="0" err="1"/>
              <a:t>řeší</a:t>
            </a:r>
            <a:r>
              <a:rPr dirty="0"/>
              <a:t> </a:t>
            </a:r>
            <a:r>
              <a:rPr dirty="0" err="1"/>
              <a:t>konektivitu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dvěma</a:t>
            </a:r>
            <a:r>
              <a:rPr dirty="0"/>
              <a:t> </a:t>
            </a:r>
            <a:r>
              <a:rPr dirty="0" err="1"/>
              <a:t>sítěmi</a:t>
            </a:r>
            <a:r>
              <a:rPr dirty="0"/>
              <a:t>. NSG </a:t>
            </a:r>
            <a:r>
              <a:rPr dirty="0" err="1"/>
              <a:t>určují</a:t>
            </a:r>
            <a:r>
              <a:rPr dirty="0"/>
              <a:t>, </a:t>
            </a:r>
            <a:r>
              <a:rPr lang="cs-CZ" dirty="0"/>
              <a:t> jaký provoz mezi sítěmi smí </a:t>
            </a:r>
            <a:r>
              <a:rPr dirty="0" err="1"/>
              <a:t>téct</a:t>
            </a:r>
            <a:endParaRPr dirty="0"/>
          </a:p>
          <a:p>
            <a:r>
              <a:rPr dirty="0"/>
              <a:t>3. </a:t>
            </a:r>
            <a:r>
              <a:rPr dirty="0" err="1"/>
              <a:t>Aplikace</a:t>
            </a:r>
            <a:r>
              <a:rPr dirty="0"/>
              <a:t> ↔ </a:t>
            </a:r>
            <a:r>
              <a:rPr lang="cs-CZ" dirty="0"/>
              <a:t>S</a:t>
            </a:r>
            <a:r>
              <a:rPr dirty="0" err="1"/>
              <a:t>lužba</a:t>
            </a:r>
            <a:r>
              <a:rPr lang="cs-CZ" dirty="0"/>
              <a:t> – Blok B</a:t>
            </a:r>
            <a:endParaRPr dirty="0"/>
          </a:p>
          <a:p>
            <a:pPr lvl="1"/>
            <a:r>
              <a:rPr dirty="0"/>
              <a:t>Private Link / Private Endpoint </a:t>
            </a:r>
            <a:r>
              <a:rPr dirty="0" err="1"/>
              <a:t>řeší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přístup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službě</a:t>
            </a:r>
            <a:r>
              <a:rPr dirty="0"/>
              <a:t>. Tady je </a:t>
            </a:r>
            <a:r>
              <a:rPr dirty="0" err="1"/>
              <a:t>kritické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DNS.</a:t>
            </a:r>
          </a:p>
          <a:p>
            <a:endParaRPr dirty="0"/>
          </a:p>
          <a:p>
            <a:r>
              <a:rPr dirty="0" err="1"/>
              <a:t>Pr</a:t>
            </a:r>
            <a:r>
              <a:rPr lang="cs-CZ" dirty="0" err="1"/>
              <a:t>ůběh</a:t>
            </a:r>
            <a:r>
              <a:rPr lang="cs-CZ" dirty="0"/>
              <a:t> semináře</a:t>
            </a:r>
            <a:r>
              <a:rPr dirty="0"/>
              <a:t>:</a:t>
            </a:r>
          </a:p>
          <a:p>
            <a:pPr lvl="1"/>
            <a:r>
              <a:rPr dirty="0"/>
              <a:t>Bootstrap v Cloud </a:t>
            </a:r>
            <a:r>
              <a:rPr dirty="0" err="1"/>
              <a:t>Shellu</a:t>
            </a:r>
            <a:r>
              <a:rPr lang="cs-CZ" dirty="0"/>
              <a:t> (nastavení výchozího prostředí</a:t>
            </a:r>
            <a:r>
              <a:rPr dirty="0"/>
              <a:t> </a:t>
            </a:r>
            <a:r>
              <a:rPr lang="cs-CZ" dirty="0"/>
              <a:t>) -&gt; </a:t>
            </a:r>
            <a:r>
              <a:rPr dirty="0" err="1"/>
              <a:t>konfigurace</a:t>
            </a:r>
            <a:r>
              <a:rPr dirty="0"/>
              <a:t> v </a:t>
            </a:r>
            <a:r>
              <a:rPr lang="cs-CZ" dirty="0"/>
              <a:t>Azure </a:t>
            </a:r>
            <a:r>
              <a:rPr dirty="0" err="1"/>
              <a:t>Portalu</a:t>
            </a:r>
            <a:endParaRPr dirty="0"/>
          </a:p>
          <a:p>
            <a:r>
              <a:rPr lang="cs-CZ" dirty="0"/>
              <a:t>Cíl</a:t>
            </a:r>
            <a:r>
              <a:rPr dirty="0"/>
              <a:t>:</a:t>
            </a:r>
          </a:p>
          <a:p>
            <a:pPr lvl="1"/>
            <a:r>
              <a:rPr lang="cs-CZ" dirty="0"/>
              <a:t>Umět </a:t>
            </a:r>
            <a:r>
              <a:rPr dirty="0" err="1"/>
              <a:t>vysvětlit</a:t>
            </a:r>
            <a:r>
              <a:rPr dirty="0"/>
              <a:t> </a:t>
            </a:r>
            <a:r>
              <a:rPr dirty="0" err="1"/>
              <a:t>rozdíl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, </a:t>
            </a:r>
            <a:r>
              <a:rPr dirty="0" err="1"/>
              <a:t>subnetem</a:t>
            </a:r>
            <a:r>
              <a:rPr dirty="0"/>
              <a:t>, </a:t>
            </a:r>
            <a:r>
              <a:rPr dirty="0" err="1"/>
              <a:t>peeringem</a:t>
            </a:r>
            <a:r>
              <a:rPr dirty="0"/>
              <a:t>, NSG a Private </a:t>
            </a:r>
            <a:r>
              <a:rPr dirty="0" err="1"/>
              <a:t>Linkem</a:t>
            </a:r>
            <a:r>
              <a:rPr dirty="0"/>
              <a:t>.</a:t>
            </a:r>
            <a:endParaRPr lang="cs-CZ" dirty="0"/>
          </a:p>
          <a:p>
            <a:pPr lvl="1"/>
            <a:r>
              <a:rPr lang="cs-CZ" dirty="0"/>
              <a:t>Pochopit pro které scénáře je vhodná jaká technologie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Proč </a:t>
            </a:r>
            <a:r>
              <a:rPr dirty="0" err="1"/>
              <a:t>VNety</a:t>
            </a:r>
            <a:r>
              <a:rPr dirty="0"/>
              <a:t> řešit i ve světě </a:t>
            </a:r>
            <a:r>
              <a:rPr dirty="0" err="1"/>
              <a:t>PaaS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637111"/>
          </a:xfrm>
        </p:spPr>
        <p:txBody>
          <a:bodyPr>
            <a:normAutofit lnSpcReduction="10000"/>
          </a:bodyPr>
          <a:lstStyle/>
          <a:p>
            <a:r>
              <a:rPr dirty="0"/>
              <a:t>Bez </a:t>
            </a:r>
            <a:r>
              <a:rPr dirty="0" err="1"/>
              <a:t>VNetu</a:t>
            </a:r>
            <a:r>
              <a:rPr dirty="0"/>
              <a:t>:</a:t>
            </a:r>
          </a:p>
          <a:p>
            <a:pPr lvl="1"/>
            <a:r>
              <a:rPr dirty="0" err="1"/>
              <a:t>služba</a:t>
            </a:r>
            <a:r>
              <a:rPr dirty="0"/>
              <a:t> → endpoint → </a:t>
            </a:r>
            <a:r>
              <a:rPr dirty="0" err="1"/>
              <a:t>přihlášení</a:t>
            </a:r>
            <a:r>
              <a:rPr dirty="0"/>
              <a:t> → </a:t>
            </a:r>
            <a:r>
              <a:rPr dirty="0" err="1"/>
              <a:t>hotovo</a:t>
            </a:r>
            <a:endParaRPr lang="cs-CZ" dirty="0"/>
          </a:p>
          <a:p>
            <a:pPr lvl="1"/>
            <a:endParaRPr dirty="0"/>
          </a:p>
          <a:p>
            <a:r>
              <a:rPr dirty="0"/>
              <a:t>S </a:t>
            </a:r>
            <a:r>
              <a:rPr dirty="0" err="1"/>
              <a:t>VNetem</a:t>
            </a:r>
            <a:r>
              <a:rPr dirty="0"/>
              <a:t>:</a:t>
            </a:r>
          </a:p>
          <a:p>
            <a:pPr lvl="1"/>
            <a:r>
              <a:rPr lang="cs-CZ" dirty="0"/>
              <a:t>K</a:t>
            </a:r>
            <a:r>
              <a:rPr dirty="0"/>
              <a:t>do</a:t>
            </a:r>
            <a:r>
              <a:rPr lang="cs-CZ" dirty="0"/>
              <a:t>/co</a:t>
            </a:r>
            <a:r>
              <a:rPr dirty="0"/>
              <a:t> </a:t>
            </a:r>
            <a:r>
              <a:rPr lang="cs-CZ" dirty="0"/>
              <a:t>může kam přistupovat</a:t>
            </a:r>
            <a:endParaRPr dirty="0"/>
          </a:p>
          <a:p>
            <a:pPr lvl="1"/>
            <a:r>
              <a:rPr dirty="0" err="1"/>
              <a:t>odkud</a:t>
            </a:r>
            <a:r>
              <a:rPr dirty="0"/>
              <a:t> je </a:t>
            </a:r>
            <a:r>
              <a:rPr dirty="0" err="1"/>
              <a:t>služba</a:t>
            </a:r>
            <a:r>
              <a:rPr dirty="0"/>
              <a:t> </a:t>
            </a:r>
            <a:r>
              <a:rPr dirty="0" err="1"/>
              <a:t>dostupná</a:t>
            </a:r>
            <a:endParaRPr dirty="0"/>
          </a:p>
          <a:p>
            <a:pPr lvl="1"/>
            <a:r>
              <a:rPr dirty="0"/>
              <a:t>je </a:t>
            </a:r>
            <a:r>
              <a:rPr dirty="0" err="1"/>
              <a:t>veřejná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privátní</a:t>
            </a:r>
            <a:endParaRPr dirty="0"/>
          </a:p>
          <a:p>
            <a:pPr lvl="1"/>
            <a:r>
              <a:rPr dirty="0"/>
              <a:t>jak </a:t>
            </a:r>
            <a:r>
              <a:rPr dirty="0" err="1"/>
              <a:t>zapadá</a:t>
            </a:r>
            <a:r>
              <a:rPr dirty="0"/>
              <a:t> do </a:t>
            </a:r>
            <a:r>
              <a:rPr dirty="0" err="1"/>
              <a:t>zbytku</a:t>
            </a:r>
            <a:r>
              <a:rPr dirty="0"/>
              <a:t> </a:t>
            </a:r>
            <a:r>
              <a:rPr dirty="0" err="1"/>
              <a:t>prostředí</a:t>
            </a:r>
            <a:endParaRPr dirty="0"/>
          </a:p>
          <a:p>
            <a:pPr lvl="1"/>
            <a:r>
              <a:rPr dirty="0"/>
              <a:t>jak se </a:t>
            </a:r>
            <a:r>
              <a:rPr dirty="0" err="1"/>
              <a:t>segmentuje</a:t>
            </a:r>
            <a:r>
              <a:rPr dirty="0"/>
              <a:t> a </a:t>
            </a:r>
            <a:r>
              <a:rPr dirty="0" err="1"/>
              <a:t>řídí</a:t>
            </a:r>
            <a:r>
              <a:rPr dirty="0"/>
              <a:t> </a:t>
            </a:r>
            <a:r>
              <a:rPr dirty="0" err="1"/>
              <a:t>provoz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Typické</a:t>
            </a:r>
            <a:r>
              <a:rPr dirty="0"/>
              <a:t> </a:t>
            </a:r>
            <a:r>
              <a:rPr dirty="0" err="1"/>
              <a:t>důvody</a:t>
            </a:r>
            <a:r>
              <a:rPr dirty="0"/>
              <a:t>:</a:t>
            </a:r>
          </a:p>
          <a:p>
            <a:pPr lvl="1"/>
            <a:r>
              <a:rPr dirty="0" err="1"/>
              <a:t>izolace</a:t>
            </a:r>
            <a:r>
              <a:rPr dirty="0"/>
              <a:t> </a:t>
            </a:r>
            <a:r>
              <a:rPr dirty="0" err="1"/>
              <a:t>prostředí</a:t>
            </a:r>
            <a:endParaRPr dirty="0"/>
          </a:p>
          <a:p>
            <a:pPr lvl="1"/>
            <a:r>
              <a:rPr dirty="0" err="1"/>
              <a:t>segmentace</a:t>
            </a:r>
            <a:r>
              <a:rPr dirty="0"/>
              <a:t> </a:t>
            </a:r>
            <a:r>
              <a:rPr dirty="0" err="1"/>
              <a:t>aplikace</a:t>
            </a:r>
            <a:endParaRPr dirty="0"/>
          </a:p>
          <a:p>
            <a:pPr lvl="1"/>
            <a:r>
              <a:rPr dirty="0" err="1"/>
              <a:t>řízení</a:t>
            </a:r>
            <a:r>
              <a:rPr dirty="0"/>
              <a:t> </a:t>
            </a:r>
            <a:r>
              <a:rPr dirty="0" err="1"/>
              <a:t>provozu</a:t>
            </a:r>
            <a:endParaRPr dirty="0"/>
          </a:p>
          <a:p>
            <a:pPr lvl="1"/>
            <a:r>
              <a:rPr dirty="0"/>
              <a:t>private access</a:t>
            </a:r>
          </a:p>
          <a:p>
            <a:r>
              <a:rPr dirty="0"/>
              <a:t>PaaS </a:t>
            </a:r>
            <a:r>
              <a:rPr dirty="0" err="1"/>
              <a:t>vá</a:t>
            </a:r>
            <a:r>
              <a:rPr lang="cs-CZ" dirty="0"/>
              <a:t>s odstíní od HW a nastavení </a:t>
            </a:r>
            <a:r>
              <a:rPr dirty="0"/>
              <a:t>server</a:t>
            </a:r>
            <a:r>
              <a:rPr lang="cs-CZ" dirty="0" err="1"/>
              <a:t>ů</a:t>
            </a:r>
            <a:r>
              <a:rPr dirty="0"/>
              <a:t>.</a:t>
            </a:r>
          </a:p>
          <a:p>
            <a:r>
              <a:rPr dirty="0" err="1"/>
              <a:t>VNet</a:t>
            </a:r>
            <a:r>
              <a:rPr dirty="0"/>
              <a:t> </a:t>
            </a:r>
            <a:r>
              <a:rPr dirty="0" err="1"/>
              <a:t>vám</a:t>
            </a:r>
            <a:r>
              <a:rPr dirty="0"/>
              <a:t> </a:t>
            </a:r>
            <a:r>
              <a:rPr dirty="0" err="1"/>
              <a:t>vrátí</a:t>
            </a:r>
            <a:r>
              <a:rPr dirty="0"/>
              <a:t> </a:t>
            </a:r>
            <a:r>
              <a:rPr dirty="0" err="1"/>
              <a:t>kontrolu</a:t>
            </a:r>
            <a:r>
              <a:rPr dirty="0"/>
              <a:t> </a:t>
            </a:r>
            <a:r>
              <a:rPr dirty="0" err="1"/>
              <a:t>nad</a:t>
            </a:r>
            <a:r>
              <a:rPr dirty="0"/>
              <a:t> </a:t>
            </a:r>
            <a:r>
              <a:rPr dirty="0" err="1"/>
              <a:t>sítí</a:t>
            </a:r>
            <a:r>
              <a:rPr dirty="0"/>
              <a:t>.</a:t>
            </a:r>
            <a:endParaRPr lang="cs-CZ" dirty="0"/>
          </a:p>
          <a:p>
            <a:r>
              <a:rPr dirty="0" err="1"/>
              <a:t>VNet</a:t>
            </a:r>
            <a:r>
              <a:rPr dirty="0"/>
              <a:t>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jen</a:t>
            </a:r>
            <a:r>
              <a:rPr dirty="0"/>
              <a:t> pro IaaS — je </a:t>
            </a:r>
            <a:r>
              <a:rPr dirty="0" err="1"/>
              <a:t>důležitý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pro </a:t>
            </a:r>
            <a:r>
              <a:rPr dirty="0" err="1"/>
              <a:t>bezpečné</a:t>
            </a:r>
            <a:r>
              <a:rPr dirty="0"/>
              <a:t> </a:t>
            </a:r>
            <a:r>
              <a:rPr dirty="0" err="1"/>
              <a:t>použití</a:t>
            </a:r>
            <a:r>
              <a:rPr dirty="0"/>
              <a:t> PaaS </a:t>
            </a:r>
            <a:r>
              <a:rPr dirty="0" err="1"/>
              <a:t>služeb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mapa pojmů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VNet</a:t>
            </a:r>
            <a:r>
              <a:rPr dirty="0"/>
              <a:t>  –</a:t>
            </a:r>
            <a:r>
              <a:rPr lang="cs-CZ" dirty="0"/>
              <a:t> podobně jako klasické sítě - v</a:t>
            </a:r>
            <a:r>
              <a:rPr dirty="0" err="1"/>
              <a:t>lastní</a:t>
            </a:r>
            <a:r>
              <a:rPr dirty="0"/>
              <a:t> </a:t>
            </a:r>
            <a:r>
              <a:rPr dirty="0" err="1"/>
              <a:t>adresní</a:t>
            </a:r>
            <a:r>
              <a:rPr dirty="0"/>
              <a:t> </a:t>
            </a:r>
            <a:r>
              <a:rPr dirty="0" err="1"/>
              <a:t>prostor</a:t>
            </a:r>
            <a:r>
              <a:rPr dirty="0"/>
              <a:t>, </a:t>
            </a:r>
            <a:r>
              <a:rPr dirty="0" err="1"/>
              <a:t>routování</a:t>
            </a:r>
            <a:r>
              <a:rPr dirty="0"/>
              <a:t>, </a:t>
            </a:r>
            <a:r>
              <a:rPr dirty="0" err="1"/>
              <a:t>napojení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 a </a:t>
            </a:r>
            <a:r>
              <a:rPr dirty="0" err="1"/>
              <a:t>služby</a:t>
            </a:r>
            <a:r>
              <a:rPr dirty="0"/>
              <a:t>.</a:t>
            </a:r>
          </a:p>
          <a:p>
            <a:r>
              <a:rPr dirty="0"/>
              <a:t>Subnet  –  </a:t>
            </a:r>
            <a:r>
              <a:rPr dirty="0" err="1"/>
              <a:t>Logické</a:t>
            </a:r>
            <a:r>
              <a:rPr dirty="0"/>
              <a:t> </a:t>
            </a:r>
            <a:r>
              <a:rPr dirty="0" err="1"/>
              <a:t>členění</a:t>
            </a:r>
            <a:r>
              <a:rPr dirty="0"/>
              <a:t> </a:t>
            </a:r>
            <a:r>
              <a:rPr dirty="0" err="1"/>
              <a:t>uvnitř</a:t>
            </a:r>
            <a:r>
              <a:rPr dirty="0"/>
              <a:t> </a:t>
            </a:r>
            <a:r>
              <a:rPr dirty="0" err="1"/>
              <a:t>VNetu</a:t>
            </a:r>
            <a:r>
              <a:rPr dirty="0"/>
              <a:t>. </a:t>
            </a:r>
            <a:r>
              <a:rPr lang="cs-CZ" dirty="0" err="1"/>
              <a:t>Subnety</a:t>
            </a:r>
            <a:r>
              <a:rPr lang="cs-CZ" dirty="0"/>
              <a:t> spolu komunikují (jsou v jedné síti)</a:t>
            </a:r>
            <a:endParaRPr dirty="0"/>
          </a:p>
          <a:p>
            <a:r>
              <a:rPr dirty="0"/>
              <a:t>Peering  –</a:t>
            </a:r>
            <a:r>
              <a:rPr lang="cs-CZ" dirty="0"/>
              <a:t> </a:t>
            </a:r>
            <a:r>
              <a:rPr dirty="0" err="1"/>
              <a:t>konektivita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VNety</a:t>
            </a:r>
            <a:r>
              <a:rPr dirty="0"/>
              <a:t> </a:t>
            </a:r>
            <a:r>
              <a:rPr lang="cs-CZ" dirty="0"/>
              <a:t>interně </a:t>
            </a:r>
            <a:r>
              <a:rPr dirty="0" err="1"/>
              <a:t>přes</a:t>
            </a:r>
            <a:r>
              <a:rPr dirty="0"/>
              <a:t> Microsoft backbone.</a:t>
            </a:r>
          </a:p>
          <a:p>
            <a:r>
              <a:rPr dirty="0"/>
              <a:t>NSG  –  </a:t>
            </a:r>
            <a:r>
              <a:rPr dirty="0" err="1"/>
              <a:t>Pravidla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</a:t>
            </a:r>
            <a:r>
              <a:rPr lang="cs-CZ" dirty="0"/>
              <a:t>povolí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zakážou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provoz</a:t>
            </a:r>
            <a:endParaRPr lang="cs-CZ" dirty="0"/>
          </a:p>
          <a:p>
            <a:pPr lvl="1"/>
            <a:r>
              <a:rPr lang="cs-CZ" dirty="0"/>
              <a:t>(protokol, port, směr komunikace …)</a:t>
            </a:r>
            <a:endParaRPr dirty="0"/>
          </a:p>
          <a:p>
            <a:r>
              <a:rPr dirty="0"/>
              <a:t>Private Link / Private Endpoint  –  </a:t>
            </a:r>
            <a:r>
              <a:rPr lang="cs-CZ" dirty="0"/>
              <a:t>p</a:t>
            </a:r>
            <a:r>
              <a:rPr dirty="0" err="1"/>
              <a:t>rivátní</a:t>
            </a:r>
            <a:r>
              <a:rPr dirty="0"/>
              <a:t> </a:t>
            </a:r>
            <a:r>
              <a:rPr dirty="0" err="1"/>
              <a:t>přístup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lang="cs-CZ" dirty="0" err="1"/>
              <a:t>PaaS</a:t>
            </a:r>
            <a:r>
              <a:rPr lang="cs-CZ" dirty="0"/>
              <a:t> </a:t>
            </a:r>
            <a:r>
              <a:rPr dirty="0" err="1"/>
              <a:t>službě</a:t>
            </a:r>
            <a:r>
              <a:rPr lang="cs-CZ" dirty="0"/>
              <a:t> z </a:t>
            </a:r>
            <a:r>
              <a:rPr lang="cs-CZ" dirty="0" err="1"/>
              <a:t>VNETu</a:t>
            </a:r>
            <a:endParaRPr lang="cs-CZ" dirty="0"/>
          </a:p>
          <a:p>
            <a:pPr lvl="1"/>
            <a:r>
              <a:rPr lang="cs-CZ" dirty="0"/>
              <a:t>přístupový bod ke službě umístěný v </a:t>
            </a:r>
            <a:r>
              <a:rPr lang="cs-CZ" dirty="0" err="1"/>
              <a:t>Subnetu</a:t>
            </a:r>
            <a:endParaRPr dirty="0"/>
          </a:p>
          <a:p>
            <a:endParaRPr dirty="0"/>
          </a:p>
          <a:p>
            <a:r>
              <a:rPr dirty="0" err="1"/>
              <a:t>Mentální</a:t>
            </a:r>
            <a:r>
              <a:rPr dirty="0"/>
              <a:t> </a:t>
            </a:r>
            <a:r>
              <a:rPr dirty="0" err="1"/>
              <a:t>mapa</a:t>
            </a:r>
            <a:r>
              <a:rPr dirty="0"/>
              <a:t>: "</a:t>
            </a:r>
            <a:r>
              <a:rPr dirty="0" err="1"/>
              <a:t>síťová</a:t>
            </a:r>
            <a:r>
              <a:rPr dirty="0"/>
              <a:t> </a:t>
            </a:r>
            <a:r>
              <a:rPr dirty="0" err="1"/>
              <a:t>hranice</a:t>
            </a:r>
            <a:r>
              <a:rPr dirty="0"/>
              <a:t>" → "</a:t>
            </a:r>
            <a:r>
              <a:rPr dirty="0" err="1"/>
              <a:t>segmentace</a:t>
            </a:r>
            <a:r>
              <a:rPr dirty="0"/>
              <a:t>" → "</a:t>
            </a:r>
            <a:r>
              <a:rPr dirty="0" err="1"/>
              <a:t>konektivita</a:t>
            </a:r>
            <a:r>
              <a:rPr dirty="0"/>
              <a:t>" → "</a:t>
            </a:r>
            <a:r>
              <a:rPr dirty="0" err="1"/>
              <a:t>politika</a:t>
            </a:r>
            <a:r>
              <a:rPr dirty="0"/>
              <a:t>" → "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služba</a:t>
            </a:r>
            <a:r>
              <a:rPr dirty="0"/>
              <a:t>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se Azure spravuje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2"/>
            <a:ext cx="9302824" cy="4525963"/>
          </a:xfrm>
        </p:spPr>
        <p:txBody>
          <a:bodyPr>
            <a:normAutofit/>
          </a:bodyPr>
          <a:lstStyle/>
          <a:p>
            <a:r>
              <a:rPr dirty="0"/>
              <a:t>Azure Portal</a:t>
            </a:r>
          </a:p>
          <a:p>
            <a:pPr lvl="1"/>
            <a:r>
              <a:rPr dirty="0" err="1"/>
              <a:t>Nejlepší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výuku</a:t>
            </a:r>
            <a:r>
              <a:rPr dirty="0"/>
              <a:t>, </a:t>
            </a:r>
            <a:r>
              <a:rPr dirty="0" err="1"/>
              <a:t>objevování</a:t>
            </a:r>
            <a:r>
              <a:rPr dirty="0"/>
              <a:t> </a:t>
            </a:r>
            <a:r>
              <a:rPr dirty="0" err="1"/>
              <a:t>služeb</a:t>
            </a:r>
            <a:r>
              <a:rPr dirty="0"/>
              <a:t> a </a:t>
            </a:r>
            <a:r>
              <a:rPr dirty="0" err="1"/>
              <a:t>vizuální</a:t>
            </a:r>
            <a:r>
              <a:rPr dirty="0"/>
              <a:t> </a:t>
            </a:r>
            <a:r>
              <a:rPr dirty="0" err="1"/>
              <a:t>kontrolu</a:t>
            </a:r>
            <a:r>
              <a:rPr dirty="0"/>
              <a:t> </a:t>
            </a:r>
            <a:r>
              <a:rPr dirty="0" err="1"/>
              <a:t>konfigurace</a:t>
            </a:r>
            <a:r>
              <a:rPr dirty="0"/>
              <a:t>.</a:t>
            </a:r>
          </a:p>
          <a:p>
            <a:r>
              <a:rPr dirty="0"/>
              <a:t>Azure CLI</a:t>
            </a:r>
          </a:p>
          <a:p>
            <a:pPr lvl="1"/>
            <a:r>
              <a:rPr dirty="0"/>
              <a:t>Cross-platform </a:t>
            </a:r>
            <a:r>
              <a:rPr dirty="0" err="1"/>
              <a:t>nástroj</a:t>
            </a:r>
            <a:r>
              <a:rPr dirty="0"/>
              <a:t> pro </a:t>
            </a:r>
            <a:r>
              <a:rPr dirty="0" err="1"/>
              <a:t>správu</a:t>
            </a:r>
            <a:r>
              <a:rPr dirty="0"/>
              <a:t> Azure resource </a:t>
            </a:r>
            <a:r>
              <a:rPr dirty="0" err="1"/>
              <a:t>interaktivně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skriptem</a:t>
            </a:r>
            <a:r>
              <a:rPr dirty="0"/>
              <a:t>.</a:t>
            </a:r>
          </a:p>
          <a:p>
            <a:r>
              <a:rPr dirty="0"/>
              <a:t>Azure PowerShell</a:t>
            </a:r>
          </a:p>
          <a:p>
            <a:pPr lvl="1"/>
            <a:r>
              <a:rPr dirty="0"/>
              <a:t>Alternativa pro </a:t>
            </a:r>
            <a:r>
              <a:rPr dirty="0" err="1"/>
              <a:t>správu</a:t>
            </a:r>
            <a:r>
              <a:rPr dirty="0"/>
              <a:t> Azure v PowerShell </a:t>
            </a:r>
            <a:r>
              <a:rPr dirty="0" err="1"/>
              <a:t>stylu</a:t>
            </a:r>
            <a:r>
              <a:rPr dirty="0"/>
              <a:t>; </a:t>
            </a:r>
            <a:r>
              <a:rPr dirty="0" err="1"/>
              <a:t>vhodná</a:t>
            </a:r>
            <a:r>
              <a:rPr dirty="0"/>
              <a:t> pro admin workflow.</a:t>
            </a:r>
          </a:p>
          <a:p>
            <a:r>
              <a:rPr dirty="0"/>
              <a:t>Cloud Shell</a:t>
            </a:r>
          </a:p>
          <a:p>
            <a:pPr lvl="1"/>
            <a:r>
              <a:rPr dirty="0" err="1"/>
              <a:t>Browserový</a:t>
            </a:r>
            <a:r>
              <a:rPr dirty="0"/>
              <a:t> </a:t>
            </a:r>
            <a:r>
              <a:rPr dirty="0" err="1"/>
              <a:t>terminál</a:t>
            </a:r>
            <a:r>
              <a:rPr dirty="0"/>
              <a:t> pro Azure. </a:t>
            </a:r>
            <a:r>
              <a:rPr dirty="0" err="1"/>
              <a:t>Umí</a:t>
            </a:r>
            <a:r>
              <a:rPr dirty="0"/>
              <a:t> Bash </a:t>
            </a:r>
            <a:r>
              <a:rPr dirty="0" err="1"/>
              <a:t>i</a:t>
            </a:r>
            <a:r>
              <a:rPr dirty="0"/>
              <a:t> PowerShell </a:t>
            </a:r>
            <a:r>
              <a:rPr lang="cs-CZ" dirty="0"/>
              <a:t>. Uživatel je rovnou autentizovaný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Blok A: </a:t>
            </a:r>
            <a:r>
              <a:rPr dirty="0" err="1"/>
              <a:t>VNet</a:t>
            </a:r>
            <a:r>
              <a:rPr dirty="0"/>
              <a:t> </a:t>
            </a:r>
            <a:r>
              <a:rPr dirty="0" err="1"/>
              <a:t>peering</a:t>
            </a:r>
            <a:r>
              <a:rPr dirty="0"/>
              <a:t> + NSG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Scénář</a:t>
            </a:r>
            <a:r>
              <a:rPr dirty="0"/>
              <a:t>: </a:t>
            </a:r>
            <a:r>
              <a:rPr dirty="0" err="1"/>
              <a:t>webová</a:t>
            </a:r>
            <a:r>
              <a:rPr dirty="0"/>
              <a:t> </a:t>
            </a:r>
            <a:r>
              <a:rPr dirty="0" err="1"/>
              <a:t>vrstva</a:t>
            </a:r>
            <a:r>
              <a:rPr dirty="0"/>
              <a:t> v </a:t>
            </a:r>
            <a:r>
              <a:rPr dirty="0" err="1"/>
              <a:t>jedné</a:t>
            </a:r>
            <a:r>
              <a:rPr dirty="0"/>
              <a:t> </a:t>
            </a:r>
            <a:r>
              <a:rPr dirty="0" err="1"/>
              <a:t>síti</a:t>
            </a:r>
            <a:r>
              <a:rPr dirty="0"/>
              <a:t>, </a:t>
            </a:r>
            <a:r>
              <a:rPr dirty="0" err="1"/>
              <a:t>datová</a:t>
            </a:r>
            <a:r>
              <a:rPr dirty="0"/>
              <a:t> </a:t>
            </a:r>
            <a:r>
              <a:rPr dirty="0" err="1"/>
              <a:t>vrstva</a:t>
            </a:r>
            <a:r>
              <a:rPr dirty="0"/>
              <a:t> v </a:t>
            </a:r>
            <a:r>
              <a:rPr dirty="0" err="1"/>
              <a:t>druhé</a:t>
            </a:r>
            <a:r>
              <a:rPr dirty="0"/>
              <a:t>.</a:t>
            </a:r>
          </a:p>
          <a:p>
            <a:r>
              <a:rPr dirty="0" err="1"/>
              <a:t>Cíl</a:t>
            </a:r>
            <a:r>
              <a:rPr dirty="0"/>
              <a:t> </a:t>
            </a:r>
            <a:r>
              <a:rPr dirty="0" err="1"/>
              <a:t>bloku</a:t>
            </a:r>
            <a:r>
              <a:rPr dirty="0"/>
              <a:t>:</a:t>
            </a:r>
            <a:endParaRPr lang="cs-CZ" dirty="0"/>
          </a:p>
          <a:p>
            <a:pPr lvl="1"/>
            <a:r>
              <a:rPr dirty="0" err="1"/>
              <a:t>pochopit</a:t>
            </a:r>
            <a:r>
              <a:rPr dirty="0"/>
              <a:t> </a:t>
            </a:r>
            <a:r>
              <a:rPr dirty="0" err="1"/>
              <a:t>rozdíl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"</a:t>
            </a:r>
            <a:r>
              <a:rPr dirty="0" err="1"/>
              <a:t>sítě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lang="cs-CZ" dirty="0"/>
              <a:t>mezi sebou konektivitu</a:t>
            </a:r>
            <a:r>
              <a:rPr dirty="0"/>
              <a:t>" a "</a:t>
            </a:r>
            <a:r>
              <a:rPr lang="cs-CZ" dirty="0"/>
              <a:t>jaká </a:t>
            </a:r>
            <a:r>
              <a:rPr dirty="0" err="1"/>
              <a:t>komunikace</a:t>
            </a:r>
            <a:r>
              <a:rPr dirty="0"/>
              <a:t> je </a:t>
            </a:r>
            <a:r>
              <a:rPr lang="cs-CZ" dirty="0"/>
              <a:t>mezi sítěmi </a:t>
            </a:r>
            <a:r>
              <a:rPr dirty="0" err="1"/>
              <a:t>povolená</a:t>
            </a:r>
            <a:r>
              <a:rPr dirty="0"/>
              <a:t>".</a:t>
            </a:r>
          </a:p>
          <a:p>
            <a:r>
              <a:rPr dirty="0" err="1"/>
              <a:t>VNety</a:t>
            </a:r>
            <a:r>
              <a:rPr dirty="0"/>
              <a:t> </a:t>
            </a:r>
            <a:r>
              <a:rPr lang="cs-CZ" dirty="0"/>
              <a:t>spolu </a:t>
            </a:r>
            <a:r>
              <a:rPr dirty="0" err="1"/>
              <a:t>defaultně</a:t>
            </a:r>
            <a:r>
              <a:rPr dirty="0"/>
              <a:t> </a:t>
            </a:r>
            <a:r>
              <a:rPr lang="cs-CZ" dirty="0"/>
              <a:t>nekomunikují</a:t>
            </a:r>
            <a:endParaRPr dirty="0"/>
          </a:p>
          <a:p>
            <a:r>
              <a:rPr dirty="0"/>
              <a:t>Peering </a:t>
            </a:r>
            <a:r>
              <a:rPr dirty="0" err="1"/>
              <a:t>přidá</a:t>
            </a:r>
            <a:r>
              <a:rPr dirty="0"/>
              <a:t> </a:t>
            </a:r>
            <a:r>
              <a:rPr dirty="0" err="1"/>
              <a:t>konektivitu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VNety</a:t>
            </a:r>
            <a:endParaRPr dirty="0"/>
          </a:p>
          <a:p>
            <a:r>
              <a:rPr dirty="0"/>
              <a:t>NSG </a:t>
            </a:r>
            <a:r>
              <a:rPr dirty="0" err="1"/>
              <a:t>určují</a:t>
            </a:r>
            <a:r>
              <a:rPr dirty="0"/>
              <a:t>, </a:t>
            </a:r>
            <a:r>
              <a:rPr lang="cs-CZ" dirty="0"/>
              <a:t>jaký provoz mezi sítěmi </a:t>
            </a:r>
            <a:r>
              <a:rPr dirty="0" err="1"/>
              <a:t>smí</a:t>
            </a:r>
            <a:r>
              <a:rPr dirty="0"/>
              <a:t> </a:t>
            </a:r>
            <a:r>
              <a:rPr dirty="0" err="1"/>
              <a:t>téct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C48DE8-43D7-1E98-5B18-629B72A7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Výchozí prostředí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9ECEA895-AFC9-6E44-EB8E-61690FE779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377455"/>
            <a:ext cx="8601429" cy="500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6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VNet a subnety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9518848" cy="4525963"/>
          </a:xfrm>
        </p:spPr>
        <p:txBody>
          <a:bodyPr>
            <a:normAutofit/>
          </a:bodyPr>
          <a:lstStyle/>
          <a:p>
            <a:r>
              <a:rPr lang="cs-CZ" dirty="0"/>
              <a:t>Není to jen izolovaná </a:t>
            </a:r>
            <a:r>
              <a:rPr lang="cs-CZ" dirty="0" err="1"/>
              <a:t>IaaS</a:t>
            </a:r>
            <a:r>
              <a:rPr lang="cs-CZ" dirty="0"/>
              <a:t> služba - </a:t>
            </a:r>
            <a:r>
              <a:rPr dirty="0"/>
              <a:t>VM, AKS, SQL MI, App Service </a:t>
            </a:r>
            <a:r>
              <a:rPr dirty="0" err="1"/>
              <a:t>VNet</a:t>
            </a:r>
            <a:r>
              <a:rPr dirty="0"/>
              <a:t> Integration, Azure Firewall, Private Endpoints — </a:t>
            </a:r>
            <a:r>
              <a:rPr dirty="0" err="1"/>
              <a:t>vše</a:t>
            </a:r>
            <a:r>
              <a:rPr dirty="0"/>
              <a:t> </a:t>
            </a:r>
            <a:r>
              <a:rPr dirty="0" err="1"/>
              <a:t>vyžaduje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.</a:t>
            </a:r>
            <a:endParaRPr lang="cs-CZ" dirty="0"/>
          </a:p>
          <a:p>
            <a:r>
              <a:rPr lang="cs-CZ" dirty="0"/>
              <a:t>Azure mezi </a:t>
            </a:r>
            <a:r>
              <a:rPr lang="cs-CZ" dirty="0" err="1"/>
              <a:t>subnety</a:t>
            </a:r>
            <a:r>
              <a:rPr lang="cs-CZ" dirty="0"/>
              <a:t> v rámci </a:t>
            </a:r>
            <a:r>
              <a:rPr lang="cs-CZ" dirty="0" err="1"/>
              <a:t>VNetu</a:t>
            </a:r>
            <a:r>
              <a:rPr lang="cs-CZ" dirty="0"/>
              <a:t> standardně </a:t>
            </a:r>
            <a:r>
              <a:rPr lang="cs-CZ" dirty="0" err="1"/>
              <a:t>routuje</a:t>
            </a:r>
            <a:r>
              <a:rPr lang="cs-CZ" dirty="0"/>
              <a:t> provoz automaticky.</a:t>
            </a:r>
          </a:p>
          <a:p>
            <a:r>
              <a:rPr lang="cs-CZ" dirty="0"/>
              <a:t>Co z toho plyne:</a:t>
            </a:r>
          </a:p>
          <a:p>
            <a:pPr lvl="1"/>
            <a:r>
              <a:rPr lang="cs-CZ" dirty="0" err="1"/>
              <a:t>Subnet</a:t>
            </a:r>
            <a:r>
              <a:rPr lang="cs-CZ" dirty="0"/>
              <a:t> je výborný na logickou segmentaci rolí, ale nefunguje sám o sobě jako firewall.</a:t>
            </a:r>
          </a:p>
          <a:p>
            <a:r>
              <a:rPr lang="cs-CZ" dirty="0"/>
              <a:t>Jak provoz omezit:</a:t>
            </a:r>
          </a:p>
          <a:p>
            <a:pPr lvl="1"/>
            <a:r>
              <a:rPr lang="cs-CZ" dirty="0"/>
              <a:t>Politiku mezi </a:t>
            </a:r>
            <a:r>
              <a:rPr lang="cs-CZ" dirty="0" err="1"/>
              <a:t>subnety</a:t>
            </a:r>
            <a:r>
              <a:rPr lang="cs-CZ" dirty="0"/>
              <a:t> realizujeme pomocí NSG a případně </a:t>
            </a:r>
            <a:r>
              <a:rPr lang="cs-CZ" dirty="0" err="1"/>
              <a:t>route</a:t>
            </a:r>
            <a:r>
              <a:rPr lang="cs-CZ" dirty="0"/>
              <a:t> </a:t>
            </a:r>
            <a:r>
              <a:rPr lang="cs-CZ" dirty="0" err="1"/>
              <a:t>tables</a:t>
            </a:r>
            <a:r>
              <a:rPr lang="cs-CZ" dirty="0"/>
              <a:t>.</a:t>
            </a:r>
          </a:p>
          <a:p>
            <a:r>
              <a:rPr lang="cs-CZ" dirty="0" err="1"/>
              <a:t>Subnety</a:t>
            </a:r>
            <a:r>
              <a:rPr lang="cs-CZ" dirty="0"/>
              <a:t> dělají pořádek. Pravidla dělají bezpečnost.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VNet</a:t>
            </a:r>
            <a:r>
              <a:rPr dirty="0"/>
              <a:t> </a:t>
            </a:r>
            <a:r>
              <a:rPr dirty="0" err="1"/>
              <a:t>peering</a:t>
            </a:r>
            <a:r>
              <a:rPr dirty="0"/>
              <a:t> = konektivita mezi </a:t>
            </a:r>
            <a:r>
              <a:rPr dirty="0" err="1"/>
              <a:t>VNety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/>
              <a:t>Co peering </a:t>
            </a:r>
            <a:r>
              <a:rPr dirty="0" err="1"/>
              <a:t>umí</a:t>
            </a:r>
            <a:r>
              <a:rPr dirty="0"/>
              <a:t>:</a:t>
            </a:r>
          </a:p>
          <a:p>
            <a:pPr lvl="1"/>
            <a:r>
              <a:rPr dirty="0" err="1"/>
              <a:t>Vytvoří</a:t>
            </a:r>
            <a:r>
              <a:rPr dirty="0"/>
              <a:t> </a:t>
            </a:r>
            <a:r>
              <a:rPr dirty="0" err="1"/>
              <a:t>síťovou</a:t>
            </a:r>
            <a:r>
              <a:rPr dirty="0"/>
              <a:t> </a:t>
            </a:r>
            <a:r>
              <a:rPr dirty="0" err="1"/>
              <a:t>cestu</a:t>
            </a:r>
            <a:r>
              <a:rPr dirty="0"/>
              <a:t> a </a:t>
            </a:r>
            <a:r>
              <a:rPr dirty="0" err="1"/>
              <a:t>umožní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komunikaci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Microsoft backbone.</a:t>
            </a:r>
          </a:p>
          <a:p>
            <a:r>
              <a:rPr dirty="0"/>
              <a:t>Co peering </a:t>
            </a:r>
            <a:r>
              <a:rPr dirty="0" err="1"/>
              <a:t>neumí</a:t>
            </a:r>
            <a:r>
              <a:rPr dirty="0"/>
              <a:t>:</a:t>
            </a:r>
          </a:p>
          <a:p>
            <a:pPr lvl="1"/>
            <a:r>
              <a:rPr dirty="0" err="1"/>
              <a:t>Neřeší</a:t>
            </a:r>
            <a:r>
              <a:rPr dirty="0"/>
              <a:t> </a:t>
            </a:r>
            <a:r>
              <a:rPr dirty="0" err="1"/>
              <a:t>bezpečnostní</a:t>
            </a:r>
            <a:r>
              <a:rPr dirty="0"/>
              <a:t> </a:t>
            </a:r>
            <a:r>
              <a:rPr dirty="0" err="1"/>
              <a:t>politiku</a:t>
            </a:r>
            <a:r>
              <a:rPr dirty="0"/>
              <a:t> ani </a:t>
            </a:r>
            <a:r>
              <a:rPr dirty="0" err="1"/>
              <a:t>sám</a:t>
            </a:r>
            <a:r>
              <a:rPr dirty="0"/>
              <a:t> o </a:t>
            </a:r>
            <a:r>
              <a:rPr dirty="0" err="1"/>
              <a:t>sobě</a:t>
            </a:r>
            <a:r>
              <a:rPr dirty="0"/>
              <a:t> </a:t>
            </a:r>
            <a:r>
              <a:rPr dirty="0" err="1"/>
              <a:t>neomezuje</a:t>
            </a:r>
            <a:r>
              <a:rPr dirty="0"/>
              <a:t> </a:t>
            </a:r>
            <a:r>
              <a:rPr dirty="0" err="1"/>
              <a:t>provoz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potřebné</a:t>
            </a:r>
            <a:r>
              <a:rPr dirty="0"/>
              <a:t> porty.</a:t>
            </a:r>
          </a:p>
          <a:p>
            <a:r>
              <a:rPr dirty="0"/>
              <a:t>Na co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dát</a:t>
            </a:r>
            <a:r>
              <a:rPr dirty="0"/>
              <a:t> </a:t>
            </a:r>
            <a:r>
              <a:rPr dirty="0" err="1"/>
              <a:t>pozor</a:t>
            </a:r>
            <a:r>
              <a:rPr dirty="0"/>
              <a:t>:</a:t>
            </a:r>
          </a:p>
          <a:p>
            <a:pPr lvl="1"/>
            <a:r>
              <a:rPr dirty="0" err="1"/>
              <a:t>Nepřekrývající</a:t>
            </a:r>
            <a:r>
              <a:rPr dirty="0"/>
              <a:t> se </a:t>
            </a:r>
            <a:r>
              <a:rPr dirty="0" err="1"/>
              <a:t>adresní</a:t>
            </a:r>
            <a:r>
              <a:rPr dirty="0"/>
              <a:t> </a:t>
            </a:r>
            <a:r>
              <a:rPr dirty="0" err="1"/>
              <a:t>prostory</a:t>
            </a:r>
            <a:r>
              <a:rPr dirty="0"/>
              <a:t> — </a:t>
            </a:r>
            <a:r>
              <a:rPr dirty="0" err="1"/>
              <a:t>podmínka</a:t>
            </a:r>
            <a:r>
              <a:rPr dirty="0"/>
              <a:t> </a:t>
            </a:r>
            <a:r>
              <a:rPr dirty="0" err="1"/>
              <a:t>peeringu</a:t>
            </a:r>
            <a:r>
              <a:rPr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dirty="0"/>
              <a:t>Peering </a:t>
            </a:r>
            <a:r>
              <a:rPr dirty="0" err="1"/>
              <a:t>neni</a:t>
            </a:r>
            <a:r>
              <a:rPr dirty="0"/>
              <a:t> </a:t>
            </a:r>
            <a:r>
              <a:rPr dirty="0" err="1"/>
              <a:t>tranzitivni</a:t>
            </a:r>
            <a:r>
              <a:rPr dirty="0"/>
              <a:t>!</a:t>
            </a:r>
          </a:p>
          <a:p>
            <a:pPr lvl="1"/>
            <a:r>
              <a:rPr dirty="0"/>
              <a:t>A &lt;-&gt; B  (peering)</a:t>
            </a:r>
          </a:p>
          <a:p>
            <a:pPr lvl="1"/>
            <a:r>
              <a:rPr dirty="0"/>
              <a:t>B &lt;-&gt; C  (peering)</a:t>
            </a:r>
          </a:p>
          <a:p>
            <a:pPr lvl="1"/>
            <a:r>
              <a:rPr dirty="0"/>
              <a:t>A  X  C  (bez </a:t>
            </a:r>
            <a:r>
              <a:rPr dirty="0" err="1"/>
              <a:t>přímého</a:t>
            </a:r>
            <a:r>
              <a:rPr dirty="0"/>
              <a:t> </a:t>
            </a:r>
            <a:r>
              <a:rPr dirty="0" err="1"/>
              <a:t>peeringu</a:t>
            </a:r>
            <a:r>
              <a:rPr dirty="0"/>
              <a:t> </a:t>
            </a:r>
            <a:r>
              <a:rPr dirty="0" err="1"/>
              <a:t>nekomunikují</a:t>
            </a:r>
            <a:r>
              <a:rPr dirty="0"/>
              <a:t>)</a:t>
            </a:r>
            <a:endParaRPr lang="cs-CZ" dirty="0"/>
          </a:p>
          <a:p>
            <a:endParaRPr lang="cs-CZ" dirty="0"/>
          </a:p>
          <a:p>
            <a:r>
              <a:rPr lang="cs-CZ" dirty="0"/>
              <a:t>Ve větších topologiích hub-and-</a:t>
            </a:r>
            <a:r>
              <a:rPr lang="cs-CZ" dirty="0" err="1"/>
              <a:t>spoke</a:t>
            </a:r>
            <a:endParaRPr lang="cs-CZ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NSG = politika provozu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9878888" cy="4525963"/>
          </a:xfrm>
        </p:spPr>
        <p:txBody>
          <a:bodyPr>
            <a:normAutofit/>
          </a:bodyPr>
          <a:lstStyle/>
          <a:p>
            <a:r>
              <a:rPr dirty="0"/>
              <a:t>Peering </a:t>
            </a:r>
            <a:r>
              <a:rPr dirty="0" err="1"/>
              <a:t>rika</a:t>
            </a:r>
            <a:r>
              <a:rPr dirty="0"/>
              <a:t> "</a:t>
            </a:r>
            <a:r>
              <a:rPr dirty="0" err="1"/>
              <a:t>lze</a:t>
            </a:r>
            <a:r>
              <a:rPr dirty="0"/>
              <a:t> </a:t>
            </a:r>
            <a:r>
              <a:rPr dirty="0" err="1"/>
              <a:t>routovat</a:t>
            </a:r>
            <a:r>
              <a:rPr dirty="0"/>
              <a:t>"</a:t>
            </a:r>
            <a:endParaRPr lang="cs-CZ" dirty="0"/>
          </a:p>
          <a:p>
            <a:r>
              <a:rPr dirty="0"/>
              <a:t>NSG </a:t>
            </a:r>
            <a:r>
              <a:rPr lang="cs-CZ" dirty="0"/>
              <a:t>říká</a:t>
            </a:r>
            <a:r>
              <a:rPr dirty="0"/>
              <a:t> "co je </a:t>
            </a:r>
            <a:r>
              <a:rPr dirty="0" err="1"/>
              <a:t>dovoleno</a:t>
            </a:r>
            <a:r>
              <a:rPr dirty="0"/>
              <a:t>".</a:t>
            </a:r>
            <a:endParaRPr lang="cs-CZ" dirty="0"/>
          </a:p>
          <a:p>
            <a:r>
              <a:rPr lang="cs-CZ" dirty="0"/>
              <a:t>NSG filtrují </a:t>
            </a:r>
            <a:r>
              <a:rPr lang="cs-CZ" dirty="0" err="1"/>
              <a:t>inbound</a:t>
            </a:r>
            <a:r>
              <a:rPr lang="cs-CZ" dirty="0"/>
              <a:t> i </a:t>
            </a:r>
            <a:r>
              <a:rPr lang="cs-CZ" dirty="0" err="1"/>
              <a:t>outbound</a:t>
            </a:r>
            <a:r>
              <a:rPr lang="cs-CZ" dirty="0"/>
              <a:t> provoz</a:t>
            </a:r>
          </a:p>
          <a:p>
            <a:r>
              <a:rPr lang="cs-CZ" dirty="0"/>
              <a:t>Lze asociovat na </a:t>
            </a:r>
            <a:r>
              <a:rPr lang="cs-CZ" dirty="0" err="1"/>
              <a:t>subnet</a:t>
            </a:r>
            <a:r>
              <a:rPr lang="cs-CZ" dirty="0"/>
              <a:t> i na konkrétní NIC</a:t>
            </a:r>
          </a:p>
          <a:p>
            <a:r>
              <a:rPr lang="cs-CZ" dirty="0"/>
              <a:t>Pravidla se vyhodnocují v pořadí podle priority</a:t>
            </a:r>
          </a:p>
          <a:p>
            <a:r>
              <a:rPr lang="cs-CZ" dirty="0"/>
              <a:t>Azure má i defaultní pravidla</a:t>
            </a:r>
          </a:p>
          <a:p>
            <a:r>
              <a:rPr lang="cs-CZ" dirty="0"/>
              <a:t>Topologie bez politiky není bezpečný návrh.</a:t>
            </a:r>
          </a:p>
          <a:p>
            <a:r>
              <a:rPr lang="cs-CZ" dirty="0"/>
              <a:t>Až NSG z ní dělají řízené prostředí.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Blok A: shrnutí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dirty="0" err="1"/>
              <a:t>VNety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defaultně</a:t>
            </a:r>
            <a:r>
              <a:rPr dirty="0"/>
              <a:t> </a:t>
            </a:r>
            <a:r>
              <a:rPr dirty="0" err="1"/>
              <a:t>oddělené</a:t>
            </a:r>
            <a:endParaRPr dirty="0"/>
          </a:p>
          <a:p>
            <a:r>
              <a:rPr dirty="0"/>
              <a:t>Peering </a:t>
            </a:r>
            <a:r>
              <a:rPr dirty="0" err="1"/>
              <a:t>vytvoří</a:t>
            </a:r>
            <a:r>
              <a:rPr dirty="0"/>
              <a:t> </a:t>
            </a:r>
            <a:r>
              <a:rPr dirty="0" err="1"/>
              <a:t>síťovou</a:t>
            </a:r>
            <a:r>
              <a:rPr dirty="0"/>
              <a:t> </a:t>
            </a:r>
            <a:r>
              <a:rPr dirty="0" err="1"/>
              <a:t>konektivitu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backbone</a:t>
            </a:r>
          </a:p>
          <a:p>
            <a:r>
              <a:rPr dirty="0"/>
              <a:t>Subnet je </a:t>
            </a:r>
            <a:r>
              <a:rPr dirty="0" err="1"/>
              <a:t>logické</a:t>
            </a:r>
            <a:r>
              <a:rPr dirty="0"/>
              <a:t> </a:t>
            </a:r>
            <a:r>
              <a:rPr dirty="0" err="1"/>
              <a:t>členění</a:t>
            </a:r>
            <a:r>
              <a:rPr dirty="0"/>
              <a:t> </a:t>
            </a:r>
            <a:r>
              <a:rPr dirty="0" err="1"/>
              <a:t>uvnitř</a:t>
            </a:r>
            <a:r>
              <a:rPr dirty="0"/>
              <a:t> </a:t>
            </a:r>
            <a:r>
              <a:rPr dirty="0" err="1"/>
              <a:t>VNetu</a:t>
            </a:r>
            <a:r>
              <a:rPr dirty="0"/>
              <a:t>, </a:t>
            </a:r>
            <a:r>
              <a:rPr dirty="0" err="1"/>
              <a:t>nikoli</a:t>
            </a:r>
            <a:r>
              <a:rPr dirty="0"/>
              <a:t> </a:t>
            </a:r>
            <a:r>
              <a:rPr dirty="0" err="1"/>
              <a:t>automatická</a:t>
            </a:r>
            <a:r>
              <a:rPr dirty="0"/>
              <a:t> </a:t>
            </a:r>
            <a:r>
              <a:rPr dirty="0" err="1"/>
              <a:t>bezpečnostní</a:t>
            </a:r>
            <a:r>
              <a:rPr dirty="0"/>
              <a:t> </a:t>
            </a:r>
            <a:r>
              <a:rPr dirty="0" err="1"/>
              <a:t>hranice</a:t>
            </a:r>
            <a:endParaRPr dirty="0"/>
          </a:p>
          <a:p>
            <a:r>
              <a:rPr dirty="0"/>
              <a:t>NSG </a:t>
            </a:r>
            <a:r>
              <a:rPr dirty="0" err="1"/>
              <a:t>zavádí</a:t>
            </a:r>
            <a:r>
              <a:rPr dirty="0"/>
              <a:t> </a:t>
            </a:r>
            <a:r>
              <a:rPr dirty="0" err="1"/>
              <a:t>princip</a:t>
            </a:r>
            <a:r>
              <a:rPr dirty="0"/>
              <a:t> least privilege</a:t>
            </a:r>
          </a:p>
          <a:p>
            <a:r>
              <a:rPr dirty="0"/>
              <a:t>Peering = cesta. NSG = </a:t>
            </a:r>
            <a:r>
              <a:rPr dirty="0" err="1"/>
              <a:t>pravidla</a:t>
            </a:r>
            <a:r>
              <a:rPr dirty="0"/>
              <a:t> </a:t>
            </a:r>
            <a:r>
              <a:rPr dirty="0" err="1"/>
              <a:t>provozu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té</a:t>
            </a:r>
            <a:r>
              <a:rPr dirty="0"/>
              <a:t> </a:t>
            </a:r>
            <a:r>
              <a:rPr dirty="0" err="1"/>
              <a:t>cestě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Blok B - </a:t>
            </a:r>
            <a:r>
              <a:rPr dirty="0"/>
              <a:t>Přepínáme mentální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Doteď</a:t>
            </a:r>
            <a:r>
              <a:rPr dirty="0"/>
              <a:t>: </a:t>
            </a:r>
            <a:r>
              <a:rPr lang="cs-CZ" dirty="0"/>
              <a:t>Network</a:t>
            </a:r>
            <a:r>
              <a:rPr dirty="0"/>
              <a:t> &lt;-&gt; </a:t>
            </a:r>
            <a:r>
              <a:rPr lang="cs-CZ" dirty="0"/>
              <a:t>Network</a:t>
            </a:r>
            <a:r>
              <a:rPr dirty="0"/>
              <a:t>.   </a:t>
            </a:r>
            <a:r>
              <a:rPr lang="cs-CZ" dirty="0"/>
              <a:t>Nyní: A</a:t>
            </a:r>
            <a:r>
              <a:rPr dirty="0" err="1"/>
              <a:t>plikace</a:t>
            </a:r>
            <a:r>
              <a:rPr dirty="0"/>
              <a:t> &lt;-&gt; </a:t>
            </a:r>
            <a:r>
              <a:rPr lang="cs-CZ" dirty="0"/>
              <a:t>S</a:t>
            </a:r>
            <a:r>
              <a:rPr dirty="0" err="1"/>
              <a:t>luzba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Blok B: z </a:t>
            </a:r>
            <a:r>
              <a:rPr lang="cs-CZ" dirty="0"/>
              <a:t>Network</a:t>
            </a:r>
            <a:r>
              <a:rPr dirty="0"/>
              <a:t> &lt;-&gt; </a:t>
            </a:r>
            <a:r>
              <a:rPr lang="cs-CZ" dirty="0"/>
              <a:t>Network </a:t>
            </a:r>
            <a:r>
              <a:rPr dirty="0"/>
              <a:t>na </a:t>
            </a:r>
            <a:r>
              <a:rPr lang="cs-CZ" dirty="0"/>
              <a:t>A</a:t>
            </a:r>
            <a:r>
              <a:rPr dirty="0"/>
              <a:t>plikace &lt;-&gt; </a:t>
            </a:r>
            <a:r>
              <a:rPr lang="cs-CZ" dirty="0"/>
              <a:t>S</a:t>
            </a:r>
            <a:r>
              <a:rPr dirty="0"/>
              <a:t>lu</a:t>
            </a:r>
            <a:r>
              <a:rPr lang="cs-CZ" dirty="0"/>
              <a:t>ž</a:t>
            </a:r>
            <a:r>
              <a:rPr dirty="0"/>
              <a:t>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/>
              <a:t>Model 1: </a:t>
            </a:r>
            <a:r>
              <a:rPr lang="cs-CZ" dirty="0"/>
              <a:t>Network</a:t>
            </a:r>
            <a:r>
              <a:rPr dirty="0"/>
              <a:t>&lt;-&gt; </a:t>
            </a:r>
            <a:r>
              <a:rPr lang="cs-CZ" dirty="0"/>
              <a:t>Network</a:t>
            </a:r>
            <a:endParaRPr dirty="0"/>
          </a:p>
          <a:p>
            <a:pPr lvl="1"/>
            <a:r>
              <a:rPr dirty="0" err="1"/>
              <a:t>vnet</a:t>
            </a:r>
            <a:r>
              <a:rPr dirty="0"/>
              <a:t>-app &lt;-&gt; </a:t>
            </a:r>
            <a:r>
              <a:rPr dirty="0" err="1"/>
              <a:t>vnet</a:t>
            </a:r>
            <a:r>
              <a:rPr dirty="0"/>
              <a:t>-data</a:t>
            </a:r>
          </a:p>
          <a:p>
            <a:pPr lvl="1"/>
            <a:r>
              <a:rPr dirty="0" err="1"/>
              <a:t>resime</a:t>
            </a:r>
            <a:r>
              <a:rPr dirty="0"/>
              <a:t> peering, </a:t>
            </a:r>
            <a:r>
              <a:rPr dirty="0" err="1"/>
              <a:t>routování</a:t>
            </a:r>
            <a:r>
              <a:rPr dirty="0"/>
              <a:t>, NSG a </a:t>
            </a:r>
            <a:r>
              <a:rPr dirty="0" err="1"/>
              <a:t>topologii</a:t>
            </a:r>
            <a:r>
              <a:rPr dirty="0"/>
              <a:t> </a:t>
            </a:r>
            <a:r>
              <a:rPr dirty="0" err="1"/>
              <a:t>segmentů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dirty="0"/>
              <a:t>Model 2: </a:t>
            </a:r>
            <a:r>
              <a:rPr lang="cs-CZ" dirty="0"/>
              <a:t>A</a:t>
            </a:r>
            <a:r>
              <a:rPr dirty="0" err="1"/>
              <a:t>plikace</a:t>
            </a:r>
            <a:r>
              <a:rPr dirty="0"/>
              <a:t> &lt;-&gt; </a:t>
            </a:r>
            <a:r>
              <a:rPr lang="cs-CZ" dirty="0"/>
              <a:t>S</a:t>
            </a:r>
            <a:r>
              <a:rPr dirty="0" err="1"/>
              <a:t>lu</a:t>
            </a:r>
            <a:r>
              <a:rPr lang="cs-CZ" dirty="0" err="1"/>
              <a:t>ž</a:t>
            </a:r>
            <a:r>
              <a:rPr dirty="0" err="1"/>
              <a:t>ba</a:t>
            </a:r>
            <a:endParaRPr dirty="0"/>
          </a:p>
          <a:p>
            <a:pPr lvl="1"/>
            <a:r>
              <a:rPr dirty="0" err="1"/>
              <a:t>aplikace</a:t>
            </a:r>
            <a:r>
              <a:rPr dirty="0"/>
              <a:t> &lt;-&gt; Storage / SQL / Cosmos DB</a:t>
            </a:r>
          </a:p>
          <a:p>
            <a:pPr lvl="1"/>
            <a:r>
              <a:rPr lang="cs-CZ" dirty="0" err="1"/>
              <a:t>ř</a:t>
            </a:r>
            <a:r>
              <a:rPr dirty="0"/>
              <a:t>e</a:t>
            </a:r>
            <a:r>
              <a:rPr lang="cs-CZ" dirty="0" err="1"/>
              <a:t>ší</a:t>
            </a:r>
            <a:r>
              <a:rPr dirty="0"/>
              <a:t>me Private Link, Private Endpoint a DNS</a:t>
            </a:r>
          </a:p>
          <a:p>
            <a:endParaRPr dirty="0"/>
          </a:p>
          <a:p>
            <a:r>
              <a:rPr dirty="0"/>
              <a:t>Peering </a:t>
            </a:r>
            <a:r>
              <a:rPr dirty="0" err="1"/>
              <a:t>propojuje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.</a:t>
            </a:r>
          </a:p>
          <a:p>
            <a:r>
              <a:rPr dirty="0"/>
              <a:t>Private Link </a:t>
            </a:r>
            <a:r>
              <a:rPr dirty="0" err="1"/>
              <a:t>připojuje</a:t>
            </a:r>
            <a:r>
              <a:rPr dirty="0"/>
              <a:t> </a:t>
            </a:r>
            <a:r>
              <a:rPr dirty="0" err="1"/>
              <a:t>službu</a:t>
            </a:r>
            <a:r>
              <a:rPr dirty="0"/>
              <a:t> </a:t>
            </a:r>
            <a:r>
              <a:rPr dirty="0" err="1"/>
              <a:t>privátně</a:t>
            </a:r>
            <a:r>
              <a:rPr dirty="0"/>
              <a:t> do </a:t>
            </a:r>
            <a:r>
              <a:rPr dirty="0" err="1"/>
              <a:t>sítě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01C342-4C51-983D-BEF0-72940B64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02851D1-C74E-1C57-BAAC-4EE42B691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92" y="1340768"/>
            <a:ext cx="6840760" cy="513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1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Private</a:t>
            </a:r>
            <a:r>
              <a:rPr dirty="0"/>
              <a:t> </a:t>
            </a:r>
            <a:r>
              <a:rPr dirty="0" err="1"/>
              <a:t>Endpoint</a:t>
            </a:r>
            <a:r>
              <a:rPr dirty="0"/>
              <a:t>: slu</a:t>
            </a:r>
            <a:r>
              <a:rPr lang="cs-CZ" dirty="0"/>
              <a:t>ž</a:t>
            </a:r>
            <a:r>
              <a:rPr dirty="0"/>
              <a:t>ba </a:t>
            </a:r>
            <a:r>
              <a:rPr lang="cs-CZ" dirty="0"/>
              <a:t>s konektorem ve </a:t>
            </a:r>
            <a:r>
              <a:rPr dirty="0" err="1"/>
              <a:t>VNetu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5400" y="1600201"/>
            <a:ext cx="10887000" cy="4525963"/>
          </a:xfrm>
        </p:spPr>
        <p:txBody>
          <a:bodyPr>
            <a:normAutofit/>
          </a:bodyPr>
          <a:lstStyle/>
          <a:p>
            <a:r>
              <a:rPr lang="cs-CZ" dirty="0" err="1"/>
              <a:t>Private</a:t>
            </a:r>
            <a:r>
              <a:rPr lang="cs-CZ" dirty="0"/>
              <a:t> </a:t>
            </a:r>
            <a:r>
              <a:rPr lang="cs-CZ" dirty="0" err="1"/>
              <a:t>endpoint</a:t>
            </a:r>
            <a:r>
              <a:rPr lang="cs-CZ" dirty="0"/>
              <a:t> je NIC s privátní IP adresou z vašeho </a:t>
            </a:r>
            <a:r>
              <a:rPr lang="cs-CZ" dirty="0" err="1"/>
              <a:t>subnetu</a:t>
            </a:r>
            <a:r>
              <a:rPr lang="cs-CZ" dirty="0"/>
              <a:t>.</a:t>
            </a:r>
          </a:p>
          <a:p>
            <a:r>
              <a:rPr dirty="0" err="1"/>
              <a:t>Klient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-app </a:t>
            </a:r>
            <a:r>
              <a:rPr dirty="0" err="1"/>
              <a:t>přistupuje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IP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své</a:t>
            </a:r>
            <a:r>
              <a:rPr dirty="0"/>
              <a:t> </a:t>
            </a:r>
            <a:r>
              <a:rPr dirty="0" err="1"/>
              <a:t>síti</a:t>
            </a:r>
            <a:endParaRPr dirty="0"/>
          </a:p>
          <a:p>
            <a:r>
              <a:rPr dirty="0"/>
              <a:t>Private Link </a:t>
            </a:r>
            <a:r>
              <a:rPr dirty="0" err="1"/>
              <a:t>řeší</a:t>
            </a:r>
            <a:r>
              <a:rPr dirty="0"/>
              <a:t> </a:t>
            </a:r>
            <a:r>
              <a:rPr dirty="0" err="1"/>
              <a:t>propojení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službě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Azure </a:t>
            </a:r>
            <a:r>
              <a:rPr dirty="0" err="1"/>
              <a:t>platformu</a:t>
            </a:r>
            <a:endParaRPr dirty="0"/>
          </a:p>
          <a:p>
            <a:r>
              <a:rPr dirty="0" err="1"/>
              <a:t>Pokud</a:t>
            </a:r>
            <a:r>
              <a:rPr dirty="0"/>
              <a:t> je </a:t>
            </a:r>
            <a:r>
              <a:rPr dirty="0" err="1"/>
              <a:t>klient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private endpoint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stejném</a:t>
            </a:r>
            <a:r>
              <a:rPr dirty="0"/>
              <a:t> </a:t>
            </a:r>
            <a:r>
              <a:rPr dirty="0" err="1"/>
              <a:t>VNetu</a:t>
            </a:r>
            <a:r>
              <a:rPr dirty="0"/>
              <a:t>, peering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potřeba</a:t>
            </a:r>
            <a:endParaRPr dirty="0"/>
          </a:p>
          <a:p>
            <a:endParaRPr dirty="0"/>
          </a:p>
          <a:p>
            <a:r>
              <a:rPr lang="cs-CZ" dirty="0"/>
              <a:t>Nejedná se o propojení sítí</a:t>
            </a:r>
            <a:endParaRPr dirty="0"/>
          </a:p>
          <a:p>
            <a:r>
              <a:rPr lang="cs-CZ" dirty="0"/>
              <a:t>Jedná se o </a:t>
            </a:r>
            <a:r>
              <a:rPr dirty="0" err="1"/>
              <a:t>zpřístupň</a:t>
            </a:r>
            <a:r>
              <a:rPr lang="cs-CZ" dirty="0" err="1"/>
              <a:t>ení</a:t>
            </a:r>
            <a:r>
              <a:rPr lang="cs-CZ"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služb</a:t>
            </a:r>
            <a:r>
              <a:rPr lang="cs-CZ" dirty="0" err="1"/>
              <a:t>y</a:t>
            </a:r>
            <a:r>
              <a:rPr dirty="0"/>
              <a:t> </a:t>
            </a:r>
            <a:r>
              <a:rPr dirty="0" err="1"/>
              <a:t>privátně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Endpoint v praxi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Azure </a:t>
            </a:r>
            <a:r>
              <a:rPr dirty="0" err="1"/>
              <a:t>vytvoří</a:t>
            </a:r>
            <a:r>
              <a:rPr dirty="0"/>
              <a:t> NIC s </a:t>
            </a:r>
            <a:r>
              <a:rPr dirty="0" err="1"/>
              <a:t>privátní</a:t>
            </a:r>
            <a:r>
              <a:rPr dirty="0"/>
              <a:t> IP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zvoleném</a:t>
            </a:r>
            <a:r>
              <a:rPr dirty="0"/>
              <a:t> </a:t>
            </a:r>
            <a:r>
              <a:rPr dirty="0" err="1"/>
              <a:t>subnetu</a:t>
            </a:r>
            <a:r>
              <a:rPr dirty="0"/>
              <a:t>.</a:t>
            </a:r>
          </a:p>
          <a:p>
            <a:r>
              <a:rPr dirty="0" err="1"/>
              <a:t>Přístup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službě</a:t>
            </a:r>
            <a:r>
              <a:rPr dirty="0"/>
              <a:t> pak </a:t>
            </a:r>
            <a:r>
              <a:rPr dirty="0" err="1"/>
              <a:t>jde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IP a private DNS.</a:t>
            </a:r>
          </a:p>
          <a:p>
            <a:endParaRPr dirty="0"/>
          </a:p>
          <a:p>
            <a:r>
              <a:rPr dirty="0" err="1"/>
              <a:t>Samotný</a:t>
            </a:r>
            <a:r>
              <a:rPr dirty="0"/>
              <a:t> Private Endpoint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nevypíná</a:t>
            </a:r>
            <a:r>
              <a:rPr dirty="0"/>
              <a:t> </a:t>
            </a:r>
            <a:r>
              <a:rPr dirty="0" err="1"/>
              <a:t>veřejný</a:t>
            </a:r>
            <a:r>
              <a:rPr dirty="0"/>
              <a:t> </a:t>
            </a:r>
            <a:r>
              <a:rPr dirty="0" err="1"/>
              <a:t>přístup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Storage </a:t>
            </a:r>
            <a:r>
              <a:rPr dirty="0" err="1"/>
              <a:t>Accountu</a:t>
            </a:r>
            <a:r>
              <a:rPr dirty="0"/>
              <a:t>.</a:t>
            </a:r>
          </a:p>
          <a:p>
            <a:pPr lvl="1"/>
            <a:r>
              <a:rPr dirty="0"/>
              <a:t>Pro private-only </a:t>
            </a:r>
            <a:r>
              <a:rPr dirty="0" err="1"/>
              <a:t>přístup</a:t>
            </a:r>
            <a:r>
              <a:rPr dirty="0"/>
              <a:t> je </a:t>
            </a:r>
            <a:r>
              <a:rPr dirty="0" err="1"/>
              <a:t>nutné</a:t>
            </a:r>
            <a:r>
              <a:rPr dirty="0"/>
              <a:t> </a:t>
            </a:r>
            <a:r>
              <a:rPr dirty="0" err="1"/>
              <a:t>zakázat</a:t>
            </a:r>
            <a:r>
              <a:rPr dirty="0"/>
              <a:t> public network access </a:t>
            </a:r>
            <a:r>
              <a:rPr dirty="0" err="1"/>
              <a:t>na</a:t>
            </a:r>
            <a:r>
              <a:rPr dirty="0"/>
              <a:t> Storage </a:t>
            </a:r>
            <a:r>
              <a:rPr dirty="0" err="1"/>
              <a:t>Accountu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používá</a:t>
            </a:r>
            <a:r>
              <a:rPr dirty="0"/>
              <a:t> </a:t>
            </a:r>
            <a:r>
              <a:rPr lang="cs-CZ" dirty="0"/>
              <a:t>nadále </a:t>
            </a:r>
            <a:r>
              <a:rPr dirty="0" err="1"/>
              <a:t>stejný</a:t>
            </a:r>
            <a:r>
              <a:rPr dirty="0"/>
              <a:t> hostname:</a:t>
            </a:r>
          </a:p>
          <a:p>
            <a:pPr lvl="1"/>
            <a:r>
              <a:rPr dirty="0" err="1"/>
              <a:t>aznetlabXXXXXX.blob.core.windows.net</a:t>
            </a:r>
            <a:endParaRPr dirty="0"/>
          </a:p>
          <a:p>
            <a:endParaRPr dirty="0"/>
          </a:p>
          <a:p>
            <a:r>
              <a:rPr dirty="0"/>
              <a:t>DNS </a:t>
            </a:r>
            <a:r>
              <a:rPr lang="cs-CZ" dirty="0" err="1"/>
              <a:t>chain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CNAME / Private DNS </a:t>
            </a:r>
            <a:r>
              <a:rPr dirty="0" err="1"/>
              <a:t>zajistí</a:t>
            </a:r>
            <a:r>
              <a:rPr dirty="0"/>
              <a:t> </a:t>
            </a:r>
            <a:r>
              <a:rPr dirty="0" err="1"/>
              <a:t>překlad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IP </a:t>
            </a:r>
            <a:r>
              <a:rPr dirty="0" err="1"/>
              <a:t>uvnitř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.</a:t>
            </a:r>
          </a:p>
          <a:p>
            <a:pPr lvl="1"/>
            <a:r>
              <a:rPr dirty="0"/>
              <a:t>Private Link </a:t>
            </a:r>
            <a:r>
              <a:rPr dirty="0" err="1"/>
              <a:t>nemění</a:t>
            </a:r>
            <a:r>
              <a:rPr dirty="0"/>
              <a:t> to, jak </a:t>
            </a:r>
            <a:r>
              <a:rPr dirty="0" err="1"/>
              <a:t>službu</a:t>
            </a:r>
            <a:r>
              <a:rPr dirty="0"/>
              <a:t> </a:t>
            </a:r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volá</a:t>
            </a:r>
            <a:r>
              <a:rPr dirty="0"/>
              <a:t> — </a:t>
            </a:r>
            <a:r>
              <a:rPr dirty="0" err="1"/>
              <a:t>mění</a:t>
            </a:r>
            <a:r>
              <a:rPr dirty="0"/>
              <a:t> </a:t>
            </a:r>
            <a:r>
              <a:rPr lang="cs-CZ" dirty="0"/>
              <a:t>pouze </a:t>
            </a:r>
            <a:r>
              <a:rPr dirty="0"/>
              <a:t>DNS a </a:t>
            </a:r>
            <a:r>
              <a:rPr dirty="0" err="1"/>
              <a:t>síťovou</a:t>
            </a:r>
            <a:r>
              <a:rPr dirty="0"/>
              <a:t> </a:t>
            </a:r>
            <a:r>
              <a:rPr dirty="0" err="1"/>
              <a:t>cestu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u Private Linku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9950896" cy="4525963"/>
          </a:xfrm>
        </p:spPr>
        <p:txBody>
          <a:bodyPr>
            <a:normAutofit/>
          </a:bodyPr>
          <a:lstStyle/>
          <a:p>
            <a:r>
              <a:rPr dirty="0" err="1"/>
              <a:t>Aplikace</a:t>
            </a:r>
            <a:r>
              <a:rPr dirty="0"/>
              <a:t> </a:t>
            </a:r>
            <a:r>
              <a:rPr lang="cs-CZ" dirty="0"/>
              <a:t>- přistupuje ke službě </a:t>
            </a:r>
            <a:r>
              <a:rPr lang="cs-CZ" dirty="0" err="1"/>
              <a:t>Storage</a:t>
            </a:r>
            <a:r>
              <a:rPr lang="cs-CZ" dirty="0"/>
              <a:t> přes FQDN (</a:t>
            </a:r>
            <a:r>
              <a:rPr lang="cs-CZ" dirty="0" err="1"/>
              <a:t>account.blob.core.windows.net</a:t>
            </a:r>
            <a:r>
              <a:rPr lang="cs-CZ" dirty="0"/>
              <a:t>)</a:t>
            </a:r>
          </a:p>
          <a:p>
            <a:r>
              <a:rPr lang="cs-CZ" dirty="0" err="1"/>
              <a:t>Private</a:t>
            </a:r>
            <a:r>
              <a:rPr lang="cs-CZ" dirty="0"/>
              <a:t> </a:t>
            </a:r>
            <a:r>
              <a:rPr lang="cs-CZ" dirty="0" err="1"/>
              <a:t>Endpoint</a:t>
            </a:r>
            <a:r>
              <a:rPr lang="cs-CZ" dirty="0"/>
              <a:t> vytvoří privátní IP adresu ve vašem </a:t>
            </a:r>
            <a:r>
              <a:rPr lang="cs-CZ" dirty="0" err="1"/>
              <a:t>subnetu</a:t>
            </a:r>
            <a:endParaRPr lang="cs-CZ" dirty="0"/>
          </a:p>
          <a:p>
            <a:r>
              <a:rPr lang="cs-CZ" dirty="0"/>
              <a:t>DNS musí zařídit, aby běžné jméno služby ukazovalo na tuto privátní IP</a:t>
            </a:r>
          </a:p>
          <a:p>
            <a:r>
              <a:rPr lang="cs-CZ" dirty="0" err="1"/>
              <a:t>Troubleshooting</a:t>
            </a:r>
            <a:r>
              <a:rPr lang="cs-CZ" dirty="0"/>
              <a:t>: když </a:t>
            </a:r>
            <a:r>
              <a:rPr lang="cs-CZ" dirty="0" err="1"/>
              <a:t>Private</a:t>
            </a:r>
            <a:r>
              <a:rPr lang="cs-CZ" dirty="0"/>
              <a:t> Link vypadá správně a nefunguje, často je </a:t>
            </a:r>
            <a:r>
              <a:rPr lang="cs-CZ" dirty="0" err="1"/>
              <a:t>problem</a:t>
            </a:r>
            <a:r>
              <a:rPr lang="cs-CZ" dirty="0"/>
              <a:t> v DNS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DNS ov</a:t>
            </a:r>
            <a:r>
              <a:rPr lang="cs-CZ" dirty="0"/>
              <a:t>ěř</a:t>
            </a:r>
            <a:r>
              <a:rPr dirty="0"/>
              <a:t>en</a:t>
            </a:r>
            <a:r>
              <a:rPr lang="cs-CZ" dirty="0"/>
              <a:t>í</a:t>
            </a:r>
            <a:r>
              <a:rPr dirty="0"/>
              <a:t> v praxi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</a:t>
            </a:r>
            <a:r>
              <a:rPr lang="cs-CZ" dirty="0" err="1"/>
              <a:t>ř</a:t>
            </a:r>
            <a:r>
              <a:rPr dirty="0"/>
              <a:t>ed </a:t>
            </a:r>
            <a:r>
              <a:rPr dirty="0" err="1"/>
              <a:t>vytvořením</a:t>
            </a:r>
            <a:r>
              <a:rPr dirty="0"/>
              <a:t> Private </a:t>
            </a:r>
            <a:r>
              <a:rPr dirty="0" err="1"/>
              <a:t>Endpointu</a:t>
            </a:r>
            <a:r>
              <a:rPr dirty="0"/>
              <a:t>:</a:t>
            </a:r>
          </a:p>
          <a:p>
            <a:pPr lvl="1"/>
            <a:r>
              <a:rPr dirty="0"/>
              <a:t>bash 01-verify.sh</a:t>
            </a:r>
          </a:p>
          <a:p>
            <a:pPr lvl="1"/>
            <a:r>
              <a:rPr dirty="0"/>
              <a:t>Name:    </a:t>
            </a:r>
            <a:r>
              <a:rPr dirty="0" err="1"/>
              <a:t>aznetlabXXXXXX.blob.core.windows.net</a:t>
            </a:r>
            <a:endParaRPr dirty="0"/>
          </a:p>
          <a:p>
            <a:pPr lvl="1"/>
            <a:r>
              <a:rPr dirty="0"/>
              <a:t>Address: 52.239.x.x   &lt;- </a:t>
            </a:r>
            <a:r>
              <a:rPr dirty="0" err="1"/>
              <a:t>verejná</a:t>
            </a:r>
            <a:r>
              <a:rPr dirty="0"/>
              <a:t> IP Azure Storage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781127"/>
          </a:xfrm>
        </p:spPr>
        <p:txBody>
          <a:bodyPr>
            <a:normAutofit fontScale="77500" lnSpcReduction="20000"/>
          </a:bodyPr>
          <a:lstStyle/>
          <a:p>
            <a:r>
              <a:rPr lang="cs-CZ" dirty="0"/>
              <a:t>Po vytvořeni </a:t>
            </a:r>
            <a:r>
              <a:rPr lang="cs-CZ" dirty="0" err="1"/>
              <a:t>Private</a:t>
            </a:r>
            <a:r>
              <a:rPr lang="cs-CZ" dirty="0"/>
              <a:t> </a:t>
            </a:r>
            <a:r>
              <a:rPr lang="cs-CZ" dirty="0" err="1"/>
              <a:t>Endpointu</a:t>
            </a:r>
            <a:r>
              <a:rPr lang="cs-CZ" dirty="0"/>
              <a:t> (z Cloud </a:t>
            </a:r>
            <a:r>
              <a:rPr lang="cs-CZ" dirty="0" err="1"/>
              <a:t>Shellu</a:t>
            </a:r>
            <a:r>
              <a:rPr lang="cs-CZ" dirty="0"/>
              <a:t>):</a:t>
            </a:r>
          </a:p>
          <a:p>
            <a:pPr lvl="1"/>
            <a:r>
              <a:rPr lang="cs-CZ" dirty="0" err="1"/>
              <a:t>bash</a:t>
            </a:r>
            <a:r>
              <a:rPr lang="cs-CZ" dirty="0"/>
              <a:t> 01-verify.sh</a:t>
            </a:r>
          </a:p>
          <a:p>
            <a:pPr lvl="1"/>
            <a:r>
              <a:rPr lang="cs-CZ" dirty="0" err="1"/>
              <a:t>aznetlabXXXXXX.blob.core.windows.net</a:t>
            </a:r>
            <a:endParaRPr lang="cs-CZ" dirty="0"/>
          </a:p>
          <a:p>
            <a:pPr lvl="1"/>
            <a:r>
              <a:rPr lang="cs-CZ" dirty="0"/>
              <a:t>  -&gt; </a:t>
            </a:r>
            <a:r>
              <a:rPr lang="cs-CZ" dirty="0" err="1"/>
              <a:t>aznetlabXXXXXX.privatelink.blob.core.windows.net</a:t>
            </a:r>
            <a:r>
              <a:rPr lang="cs-CZ" dirty="0"/>
              <a:t>  &lt;- CNAME se změnil</a:t>
            </a:r>
          </a:p>
          <a:p>
            <a:pPr lvl="1"/>
            <a:r>
              <a:rPr lang="cs-CZ" dirty="0" err="1"/>
              <a:t>Address</a:t>
            </a:r>
            <a:r>
              <a:rPr lang="cs-CZ" dirty="0"/>
              <a:t>: 20.x.x.x  &lt;- </a:t>
            </a:r>
            <a:r>
              <a:rPr lang="cs-CZ" dirty="0" err="1"/>
              <a:t>stale</a:t>
            </a:r>
            <a:r>
              <a:rPr lang="cs-CZ" dirty="0"/>
              <a:t> veřejná IP (Cloud Shell je mimo </a:t>
            </a:r>
            <a:r>
              <a:rPr lang="cs-CZ" dirty="0" err="1"/>
              <a:t>VNet</a:t>
            </a:r>
            <a:r>
              <a:rPr lang="cs-CZ" dirty="0"/>
              <a:t>)</a:t>
            </a:r>
          </a:p>
          <a:p>
            <a:endParaRPr dirty="0"/>
          </a:p>
          <a:p>
            <a:r>
              <a:rPr dirty="0"/>
              <a:t>Cloud Shell nevi Private DNS </a:t>
            </a:r>
            <a:r>
              <a:rPr dirty="0" err="1"/>
              <a:t>zónu</a:t>
            </a:r>
            <a:r>
              <a:rPr dirty="0"/>
              <a:t> — b</a:t>
            </a:r>
            <a:r>
              <a:rPr lang="cs-CZ" dirty="0" err="1"/>
              <a:t>ěží</a:t>
            </a:r>
            <a:r>
              <a:rPr lang="cs-CZ" dirty="0"/>
              <a:t> </a:t>
            </a:r>
            <a:r>
              <a:rPr dirty="0" err="1"/>
              <a:t>mimo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.</a:t>
            </a:r>
          </a:p>
          <a:p>
            <a:r>
              <a:rPr dirty="0"/>
              <a:t>CNAME </a:t>
            </a:r>
            <a:r>
              <a:rPr dirty="0" err="1"/>
              <a:t>zm</a:t>
            </a:r>
            <a:r>
              <a:rPr lang="cs-CZ" dirty="0" err="1"/>
              <a:t>ě</a:t>
            </a:r>
            <a:r>
              <a:rPr dirty="0" err="1"/>
              <a:t>na</a:t>
            </a:r>
            <a:r>
              <a:rPr dirty="0"/>
              <a:t> je d</a:t>
            </a:r>
            <a:r>
              <a:rPr lang="cs-CZ" dirty="0" err="1"/>
              <a:t>ů</a:t>
            </a:r>
            <a:r>
              <a:rPr dirty="0" err="1"/>
              <a:t>kaz</a:t>
            </a:r>
            <a:r>
              <a:rPr dirty="0"/>
              <a:t>, </a:t>
            </a:r>
            <a:r>
              <a:rPr lang="cs-CZ" dirty="0" err="1"/>
              <a:t>ž</a:t>
            </a:r>
            <a:r>
              <a:rPr dirty="0"/>
              <a:t>e Private Endpoint </a:t>
            </a:r>
            <a:r>
              <a:rPr dirty="0" err="1"/>
              <a:t>existuje</a:t>
            </a:r>
            <a:r>
              <a:rPr dirty="0"/>
              <a:t>.</a:t>
            </a:r>
          </a:p>
          <a:p>
            <a:pPr lvl="1"/>
            <a:r>
              <a:rPr dirty="0" err="1"/>
              <a:t>Privátní</a:t>
            </a:r>
            <a:r>
              <a:rPr dirty="0"/>
              <a:t> IP (10.10.2.x) by </a:t>
            </a:r>
            <a:r>
              <a:rPr dirty="0" err="1"/>
              <a:t>vrátil</a:t>
            </a:r>
            <a:r>
              <a:rPr dirty="0"/>
              <a:t> </a:t>
            </a:r>
            <a:r>
              <a:rPr dirty="0" err="1"/>
              <a:t>nslookup</a:t>
            </a:r>
            <a:r>
              <a:rPr dirty="0"/>
              <a:t> z VM </a:t>
            </a:r>
            <a:r>
              <a:rPr dirty="0" err="1"/>
              <a:t>uvnitř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-app.</a:t>
            </a:r>
          </a:p>
          <a:p>
            <a:endParaRPr dirty="0"/>
          </a:p>
          <a:p>
            <a:r>
              <a:rPr dirty="0" err="1"/>
              <a:t>Aplikace</a:t>
            </a:r>
            <a:r>
              <a:rPr dirty="0"/>
              <a:t> </a:t>
            </a:r>
            <a:r>
              <a:rPr lang="cs-CZ" dirty="0"/>
              <a:t>nemusí měnit nastavení</a:t>
            </a:r>
            <a:r>
              <a:rPr dirty="0"/>
              <a:t>. DNS </a:t>
            </a:r>
            <a:r>
              <a:rPr dirty="0" err="1"/>
              <a:t>rozhoduje</a:t>
            </a:r>
            <a:r>
              <a:rPr dirty="0"/>
              <a:t>, </a:t>
            </a:r>
            <a:r>
              <a:rPr dirty="0" err="1"/>
              <a:t>kudy</a:t>
            </a:r>
            <a:r>
              <a:rPr dirty="0"/>
              <a:t> </a:t>
            </a:r>
            <a:r>
              <a:rPr dirty="0" err="1"/>
              <a:t>provoz</a:t>
            </a:r>
            <a:r>
              <a:rPr dirty="0"/>
              <a:t> </a:t>
            </a:r>
            <a:r>
              <a:rPr dirty="0" err="1"/>
              <a:t>skute</a:t>
            </a:r>
            <a:r>
              <a:rPr lang="cs-CZ" dirty="0" err="1"/>
              <a:t>č</a:t>
            </a:r>
            <a:r>
              <a:rPr dirty="0"/>
              <a:t>ne </a:t>
            </a:r>
            <a:r>
              <a:rPr dirty="0" err="1"/>
              <a:t>te</a:t>
            </a:r>
            <a:r>
              <a:rPr lang="cs-CZ" dirty="0" err="1"/>
              <a:t>č</a:t>
            </a:r>
            <a:r>
              <a:rPr dirty="0"/>
              <a:t>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Peering vs. Private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Ne</a:t>
            </a:r>
            <a:r>
              <a:rPr lang="cs-CZ" dirty="0" err="1"/>
              <a:t>ř</a:t>
            </a:r>
            <a:r>
              <a:rPr dirty="0"/>
              <a:t>e</a:t>
            </a:r>
            <a:r>
              <a:rPr lang="cs-CZ" dirty="0" err="1"/>
              <a:t>š</a:t>
            </a:r>
            <a:r>
              <a:rPr dirty="0" err="1"/>
              <a:t>í</a:t>
            </a:r>
            <a:r>
              <a:rPr dirty="0"/>
              <a:t> </a:t>
            </a:r>
            <a:r>
              <a:rPr dirty="0" err="1"/>
              <a:t>stejný</a:t>
            </a:r>
            <a:r>
              <a:rPr dirty="0"/>
              <a:t> </a:t>
            </a:r>
            <a:r>
              <a:rPr dirty="0" err="1"/>
              <a:t>probl</a:t>
            </a:r>
            <a:r>
              <a:rPr lang="cs-CZ" dirty="0" err="1"/>
              <a:t>é</a:t>
            </a:r>
            <a:r>
              <a:rPr dirty="0"/>
              <a:t>m</a:t>
            </a:r>
          </a:p>
          <a:p>
            <a:r>
              <a:rPr dirty="0"/>
              <a:t>Co </a:t>
            </a:r>
            <a:r>
              <a:rPr dirty="0" err="1"/>
              <a:t>propojuje</a:t>
            </a:r>
            <a:r>
              <a:rPr dirty="0"/>
              <a:t>?</a:t>
            </a:r>
          </a:p>
          <a:p>
            <a:pPr lvl="1"/>
            <a:r>
              <a:rPr dirty="0"/>
              <a:t>Peering: </a:t>
            </a:r>
            <a:r>
              <a:rPr dirty="0" err="1"/>
              <a:t>Dvě</a:t>
            </a:r>
            <a:r>
              <a:rPr dirty="0"/>
              <a:t> </a:t>
            </a:r>
            <a:r>
              <a:rPr dirty="0" err="1"/>
              <a:t>sítě</a:t>
            </a:r>
            <a:endParaRPr dirty="0"/>
          </a:p>
          <a:p>
            <a:pPr lvl="1"/>
            <a:r>
              <a:rPr dirty="0"/>
              <a:t>Private Link: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službu</a:t>
            </a:r>
            <a:r>
              <a:rPr dirty="0"/>
              <a:t> do </a:t>
            </a:r>
            <a:r>
              <a:rPr dirty="0" err="1"/>
              <a:t>sítě</a:t>
            </a:r>
            <a:endParaRPr dirty="0"/>
          </a:p>
          <a:p>
            <a:r>
              <a:rPr dirty="0" err="1"/>
              <a:t>Typický</a:t>
            </a:r>
            <a:r>
              <a:rPr dirty="0"/>
              <a:t> </a:t>
            </a:r>
            <a:r>
              <a:rPr dirty="0" err="1"/>
              <a:t>scénář</a:t>
            </a:r>
            <a:r>
              <a:rPr dirty="0"/>
              <a:t>:</a:t>
            </a:r>
          </a:p>
          <a:p>
            <a:pPr lvl="1"/>
            <a:r>
              <a:rPr dirty="0"/>
              <a:t>Peering: Web </a:t>
            </a:r>
            <a:r>
              <a:rPr dirty="0" err="1"/>
              <a:t>vrstva</a:t>
            </a:r>
            <a:r>
              <a:rPr dirty="0"/>
              <a:t> &lt;-&gt; data </a:t>
            </a:r>
            <a:r>
              <a:rPr dirty="0" err="1"/>
              <a:t>vrstva</a:t>
            </a:r>
            <a:endParaRPr dirty="0"/>
          </a:p>
          <a:p>
            <a:pPr lvl="1"/>
            <a:r>
              <a:rPr dirty="0"/>
              <a:t>Private Link: </a:t>
            </a:r>
            <a:r>
              <a:rPr dirty="0" err="1"/>
              <a:t>Aplikace</a:t>
            </a:r>
            <a:r>
              <a:rPr dirty="0"/>
              <a:t> &lt;-&gt; Storage, SQL, Cosmos DB</a:t>
            </a:r>
          </a:p>
          <a:p>
            <a:r>
              <a:rPr dirty="0" err="1"/>
              <a:t>Potřebuji</a:t>
            </a:r>
            <a:r>
              <a:rPr dirty="0"/>
              <a:t> </a:t>
            </a:r>
            <a:r>
              <a:rPr dirty="0" err="1"/>
              <a:t>druhý</a:t>
            </a:r>
            <a:r>
              <a:rPr dirty="0"/>
              <a:t> </a:t>
            </a:r>
            <a:r>
              <a:rPr dirty="0" err="1"/>
              <a:t>VNet</a:t>
            </a:r>
            <a:r>
              <a:rPr dirty="0"/>
              <a:t>?</a:t>
            </a:r>
          </a:p>
          <a:p>
            <a:pPr lvl="1"/>
            <a:r>
              <a:rPr dirty="0"/>
              <a:t>Peering: Ano</a:t>
            </a:r>
          </a:p>
          <a:p>
            <a:pPr lvl="1"/>
            <a:r>
              <a:rPr dirty="0"/>
              <a:t>Private Link: 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Řeší</a:t>
            </a:r>
            <a:r>
              <a:rPr dirty="0"/>
              <a:t> </a:t>
            </a:r>
            <a:r>
              <a:rPr dirty="0" err="1"/>
              <a:t>bezpečnost</a:t>
            </a:r>
            <a:r>
              <a:rPr dirty="0"/>
              <a:t> </a:t>
            </a:r>
            <a:r>
              <a:rPr dirty="0" err="1"/>
              <a:t>sám</a:t>
            </a:r>
            <a:r>
              <a:rPr lang="cs-CZ" dirty="0"/>
              <a:t> o sobě</a:t>
            </a:r>
            <a:r>
              <a:rPr dirty="0"/>
              <a:t>?</a:t>
            </a:r>
          </a:p>
          <a:p>
            <a:pPr lvl="1"/>
            <a:r>
              <a:rPr dirty="0"/>
              <a:t>Peering: Ne</a:t>
            </a:r>
          </a:p>
          <a:p>
            <a:pPr lvl="1"/>
            <a:r>
              <a:rPr dirty="0"/>
              <a:t>Private Link: Ne</a:t>
            </a:r>
          </a:p>
          <a:p>
            <a:endParaRPr dirty="0"/>
          </a:p>
          <a:p>
            <a:r>
              <a:rPr lang="cs-CZ" dirty="0"/>
              <a:t>Možné k</a:t>
            </a:r>
            <a:r>
              <a:rPr dirty="0" err="1"/>
              <a:t>omplikace</a:t>
            </a:r>
            <a:r>
              <a:rPr dirty="0"/>
              <a:t>:</a:t>
            </a:r>
          </a:p>
          <a:p>
            <a:pPr lvl="1"/>
            <a:r>
              <a:rPr dirty="0"/>
              <a:t>Peering: </a:t>
            </a:r>
            <a:r>
              <a:rPr dirty="0" err="1"/>
              <a:t>adresace</a:t>
            </a:r>
            <a:r>
              <a:rPr dirty="0"/>
              <a:t> a </a:t>
            </a:r>
            <a:r>
              <a:rPr dirty="0" err="1"/>
              <a:t>topologie</a:t>
            </a:r>
            <a:endParaRPr dirty="0"/>
          </a:p>
          <a:p>
            <a:pPr lvl="1"/>
            <a:r>
              <a:rPr dirty="0"/>
              <a:t>Private Link: </a:t>
            </a:r>
            <a:r>
              <a:rPr dirty="0" err="1"/>
              <a:t>velmi</a:t>
            </a:r>
            <a:r>
              <a:rPr dirty="0"/>
              <a:t> </a:t>
            </a:r>
            <a:r>
              <a:rPr lang="cs-CZ" dirty="0" err="1"/>
              <a:t>č</a:t>
            </a:r>
            <a:r>
              <a:rPr dirty="0" err="1"/>
              <a:t>asto</a:t>
            </a:r>
            <a:r>
              <a:rPr dirty="0"/>
              <a:t> DNS</a:t>
            </a:r>
          </a:p>
          <a:p>
            <a:endParaRPr dirty="0"/>
          </a:p>
          <a:p>
            <a:r>
              <a:rPr lang="cs-CZ" dirty="0"/>
              <a:t>Network</a:t>
            </a:r>
            <a:r>
              <a:rPr dirty="0"/>
              <a:t>-</a:t>
            </a:r>
            <a:r>
              <a:rPr lang="cs-CZ" dirty="0"/>
              <a:t>Network</a:t>
            </a:r>
            <a:r>
              <a:rPr dirty="0"/>
              <a:t>   </a:t>
            </a:r>
            <a:r>
              <a:rPr lang="cs-CZ" dirty="0" err="1"/>
              <a:t>x</a:t>
            </a:r>
            <a:r>
              <a:rPr dirty="0"/>
              <a:t>   </a:t>
            </a:r>
            <a:r>
              <a:rPr lang="cs-CZ" dirty="0"/>
              <a:t>A</a:t>
            </a:r>
            <a:r>
              <a:rPr dirty="0" err="1"/>
              <a:t>plikace</a:t>
            </a:r>
            <a:r>
              <a:rPr dirty="0"/>
              <a:t>-</a:t>
            </a:r>
            <a:r>
              <a:rPr lang="cs-CZ" dirty="0"/>
              <a:t>S</a:t>
            </a:r>
            <a:r>
              <a:rPr dirty="0" err="1"/>
              <a:t>lu</a:t>
            </a:r>
            <a:r>
              <a:rPr lang="cs-CZ" dirty="0" err="1"/>
              <a:t>ž</a:t>
            </a:r>
            <a:r>
              <a:rPr dirty="0" err="1"/>
              <a:t>ba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Závěr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dirty="0" err="1"/>
              <a:t>VNet</a:t>
            </a:r>
            <a:r>
              <a:rPr dirty="0"/>
              <a:t> je </a:t>
            </a:r>
            <a:r>
              <a:rPr dirty="0" err="1"/>
              <a:t>hranice</a:t>
            </a:r>
            <a:endParaRPr dirty="0"/>
          </a:p>
          <a:p>
            <a:pPr lvl="1"/>
            <a:r>
              <a:rPr dirty="0" err="1"/>
              <a:t>Základní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síťový</a:t>
            </a:r>
            <a:r>
              <a:rPr dirty="0"/>
              <a:t> </a:t>
            </a:r>
            <a:r>
              <a:rPr dirty="0" err="1"/>
              <a:t>prostor</a:t>
            </a:r>
            <a:r>
              <a:rPr dirty="0"/>
              <a:t> v Azure.</a:t>
            </a:r>
          </a:p>
          <a:p>
            <a:r>
              <a:rPr dirty="0"/>
              <a:t>Peering je </a:t>
            </a:r>
            <a:r>
              <a:rPr dirty="0" err="1"/>
              <a:t>konektivita</a:t>
            </a:r>
            <a:endParaRPr dirty="0"/>
          </a:p>
          <a:p>
            <a:pPr lvl="1"/>
            <a:r>
              <a:rPr dirty="0" err="1"/>
              <a:t>Řeší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cestu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dvěma</a:t>
            </a:r>
            <a:r>
              <a:rPr dirty="0"/>
              <a:t> </a:t>
            </a:r>
            <a:r>
              <a:rPr dirty="0" err="1"/>
              <a:t>sítěmi</a:t>
            </a:r>
            <a:r>
              <a:rPr dirty="0"/>
              <a:t>.</a:t>
            </a:r>
          </a:p>
          <a:p>
            <a:r>
              <a:rPr dirty="0"/>
              <a:t>NSG + Private Link = </a:t>
            </a:r>
            <a:r>
              <a:rPr dirty="0" err="1"/>
              <a:t>bezpečné</a:t>
            </a:r>
            <a:r>
              <a:rPr dirty="0"/>
              <a:t> </a:t>
            </a:r>
            <a:r>
              <a:rPr dirty="0" err="1"/>
              <a:t>použití</a:t>
            </a:r>
            <a:endParaRPr dirty="0"/>
          </a:p>
          <a:p>
            <a:pPr lvl="1"/>
            <a:r>
              <a:rPr dirty="0"/>
              <a:t>Politika </a:t>
            </a:r>
            <a:r>
              <a:rPr dirty="0" err="1"/>
              <a:t>provozu</a:t>
            </a:r>
            <a:r>
              <a:rPr dirty="0"/>
              <a:t> a </a:t>
            </a:r>
            <a:r>
              <a:rPr dirty="0" err="1"/>
              <a:t>privátní</a:t>
            </a:r>
            <a:r>
              <a:rPr dirty="0"/>
              <a:t> </a:t>
            </a:r>
            <a:r>
              <a:rPr dirty="0" err="1"/>
              <a:t>přístup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službám</a:t>
            </a:r>
            <a:r>
              <a:rPr dirty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dirty="0" err="1"/>
              <a:t>Dva</a:t>
            </a:r>
            <a:r>
              <a:rPr dirty="0"/>
              <a:t> </a:t>
            </a:r>
            <a:r>
              <a:rPr dirty="0" err="1"/>
              <a:t>mentální</a:t>
            </a:r>
            <a:r>
              <a:rPr dirty="0"/>
              <a:t> </a:t>
            </a:r>
            <a:r>
              <a:rPr dirty="0" err="1"/>
              <a:t>modely</a:t>
            </a:r>
            <a:r>
              <a:rPr dirty="0"/>
              <a:t>:</a:t>
            </a:r>
          </a:p>
          <a:p>
            <a:pPr lvl="1"/>
            <a:r>
              <a:rPr dirty="0" err="1"/>
              <a:t>Propojuji</a:t>
            </a:r>
            <a:r>
              <a:rPr dirty="0"/>
              <a:t> </a:t>
            </a:r>
            <a:r>
              <a:rPr dirty="0" err="1"/>
              <a:t>dvě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 -&gt; </a:t>
            </a:r>
            <a:r>
              <a:rPr dirty="0" err="1"/>
              <a:t>VNet</a:t>
            </a:r>
            <a:r>
              <a:rPr dirty="0"/>
              <a:t>, subnet, peering, NSG</a:t>
            </a:r>
          </a:p>
          <a:p>
            <a:pPr lvl="1"/>
            <a:r>
              <a:rPr dirty="0" err="1"/>
              <a:t>Privátně</a:t>
            </a:r>
            <a:r>
              <a:rPr dirty="0"/>
              <a:t> </a:t>
            </a:r>
            <a:r>
              <a:rPr dirty="0" err="1"/>
              <a:t>připojuji</a:t>
            </a:r>
            <a:r>
              <a:rPr dirty="0"/>
              <a:t> </a:t>
            </a:r>
            <a:r>
              <a:rPr dirty="0" err="1"/>
              <a:t>službu</a:t>
            </a:r>
            <a:r>
              <a:rPr dirty="0"/>
              <a:t> -&gt; Private Link, Private Endpoint, DNS</a:t>
            </a:r>
          </a:p>
          <a:p>
            <a:endParaRPr dirty="0"/>
          </a:p>
          <a:p>
            <a:r>
              <a:rPr dirty="0"/>
              <a:t>PaaS </a:t>
            </a:r>
            <a:r>
              <a:rPr dirty="0" err="1"/>
              <a:t>vám</a:t>
            </a:r>
            <a:r>
              <a:rPr dirty="0"/>
              <a:t> </a:t>
            </a:r>
            <a:r>
              <a:rPr dirty="0" err="1"/>
              <a:t>schová</a:t>
            </a:r>
            <a:r>
              <a:rPr dirty="0"/>
              <a:t> </a:t>
            </a:r>
            <a:r>
              <a:rPr dirty="0" err="1"/>
              <a:t>servery</a:t>
            </a:r>
            <a:r>
              <a:rPr dirty="0"/>
              <a:t>.</a:t>
            </a:r>
          </a:p>
          <a:p>
            <a:r>
              <a:rPr dirty="0" err="1"/>
              <a:t>VNet</a:t>
            </a:r>
            <a:r>
              <a:rPr dirty="0"/>
              <a:t> </a:t>
            </a:r>
            <a:r>
              <a:rPr dirty="0" err="1"/>
              <a:t>vám</a:t>
            </a:r>
            <a:r>
              <a:rPr dirty="0"/>
              <a:t> </a:t>
            </a:r>
            <a:r>
              <a:rPr dirty="0" err="1"/>
              <a:t>vrátí</a:t>
            </a:r>
            <a:r>
              <a:rPr dirty="0"/>
              <a:t> </a:t>
            </a:r>
            <a:r>
              <a:rPr dirty="0" err="1"/>
              <a:t>kontrolu</a:t>
            </a:r>
            <a:r>
              <a:rPr dirty="0"/>
              <a:t> </a:t>
            </a:r>
            <a:r>
              <a:rPr dirty="0" err="1"/>
              <a:t>nad</a:t>
            </a:r>
            <a:r>
              <a:rPr dirty="0"/>
              <a:t> </a:t>
            </a:r>
            <a:r>
              <a:rPr dirty="0" err="1"/>
              <a:t>sítí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Appendix</a:t>
            </a:r>
            <a:r>
              <a:rPr dirty="0"/>
              <a:t>: </a:t>
            </a:r>
            <a:r>
              <a:rPr lang="cs-CZ" dirty="0" err="1"/>
              <a:t>advanced</a:t>
            </a:r>
            <a:r>
              <a:rPr lang="cs-CZ" dirty="0"/>
              <a:t> </a:t>
            </a:r>
            <a:r>
              <a:rPr lang="cs-CZ" dirty="0" err="1"/>
              <a:t>questions</a:t>
            </a:r>
            <a:r>
              <a:rPr lang="cs-CZ" dirty="0"/>
              <a:t> - </a:t>
            </a:r>
            <a:r>
              <a:rPr dirty="0"/>
              <a:t>blok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t>Více VNetů vs. více subnetů?</a:t>
            </a:r>
          </a:p>
          <a:p>
            <a:pPr lvl="1"/>
            <a:r>
              <a:t>VNet = silnější hranice a samostatný adresní prostor; subnet = jemnější členění uvnitř jedné sítě.</a:t>
            </a:r>
          </a:p>
          <a:p>
            <a:r>
              <a:t>Hub-and-spoke vs. přímé peerování?</a:t>
            </a:r>
          </a:p>
          <a:p>
            <a:pPr lvl="1"/>
            <a:r>
              <a:t>Hub-and-spoke lépe škáluje a centralizuje bezpečnost; přímé peerování je jednodušší pro malé scénáře.</a:t>
            </a:r>
          </a:p>
          <a:p>
            <a:r>
              <a:t>Peering vs. VPN Gateway?</a:t>
            </a:r>
          </a:p>
          <a:p>
            <a:pPr lvl="1"/>
            <a:r>
              <a:t>Peering = nativní Azure konektivita mezi VNety; VPN Gateway = tunelovaný model typicky pro on-prem.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Překrývající</a:t>
            </a:r>
            <a:r>
              <a:rPr dirty="0"/>
              <a:t> se </a:t>
            </a:r>
            <a:r>
              <a:rPr dirty="0" err="1"/>
              <a:t>adresace</a:t>
            </a:r>
            <a:r>
              <a:rPr dirty="0"/>
              <a:t>?</a:t>
            </a:r>
          </a:p>
          <a:p>
            <a:pPr lvl="1"/>
            <a:r>
              <a:rPr dirty="0" err="1"/>
              <a:t>Návrhový</a:t>
            </a:r>
            <a:r>
              <a:rPr dirty="0"/>
              <a:t> </a:t>
            </a:r>
            <a:r>
              <a:rPr dirty="0" err="1"/>
              <a:t>problém</a:t>
            </a:r>
            <a:r>
              <a:rPr dirty="0"/>
              <a:t> — routing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jednoznačný</a:t>
            </a:r>
            <a:r>
              <a:rPr dirty="0"/>
              <a:t> a </a:t>
            </a:r>
            <a:r>
              <a:rPr dirty="0" err="1"/>
              <a:t>peerování</a:t>
            </a:r>
            <a:r>
              <a:rPr dirty="0"/>
              <a:t> </a:t>
            </a:r>
            <a:r>
              <a:rPr dirty="0" err="1"/>
              <a:t>tím</a:t>
            </a:r>
            <a:r>
              <a:rPr dirty="0"/>
              <a:t> </a:t>
            </a:r>
            <a:r>
              <a:rPr dirty="0" err="1"/>
              <a:t>komplikuje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znemožn</a:t>
            </a:r>
            <a:r>
              <a:rPr lang="cs-CZ" dirty="0" err="1"/>
              <a:t>uje</a:t>
            </a:r>
            <a:r>
              <a:rPr dirty="0"/>
              <a:t>.</a:t>
            </a:r>
          </a:p>
          <a:p>
            <a:r>
              <a:rPr dirty="0"/>
              <a:t>Gateway transit?</a:t>
            </a:r>
          </a:p>
          <a:p>
            <a:pPr lvl="1"/>
            <a:r>
              <a:rPr dirty="0"/>
              <a:t>Spoke </a:t>
            </a:r>
            <a:r>
              <a:rPr dirty="0" err="1"/>
              <a:t>síť</a:t>
            </a:r>
            <a:r>
              <a:rPr dirty="0"/>
              <a:t> </a:t>
            </a:r>
            <a:r>
              <a:rPr dirty="0" err="1"/>
              <a:t>používá</a:t>
            </a:r>
            <a:r>
              <a:rPr dirty="0"/>
              <a:t> gateway v peered </a:t>
            </a:r>
            <a:r>
              <a:rPr dirty="0" err="1"/>
              <a:t>hubu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transit do on-prem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jiné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Appendix</a:t>
            </a:r>
            <a:r>
              <a:rPr dirty="0"/>
              <a:t>:</a:t>
            </a:r>
            <a:r>
              <a:rPr lang="cs-CZ" dirty="0"/>
              <a:t> </a:t>
            </a:r>
            <a:r>
              <a:rPr lang="cs-CZ" dirty="0" err="1"/>
              <a:t>advanced</a:t>
            </a:r>
            <a:r>
              <a:rPr lang="cs-CZ" dirty="0"/>
              <a:t> </a:t>
            </a:r>
            <a:r>
              <a:rPr lang="cs-CZ" dirty="0" err="1"/>
              <a:t>questions</a:t>
            </a:r>
            <a:r>
              <a:rPr lang="cs-CZ" dirty="0"/>
              <a:t> -</a:t>
            </a:r>
            <a:r>
              <a:rPr dirty="0"/>
              <a:t> blok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Private Endpoint vs. Service Endpoint?</a:t>
            </a:r>
          </a:p>
          <a:p>
            <a:pPr lvl="1"/>
            <a:r>
              <a:rPr dirty="0"/>
              <a:t>Private Endpoint </a:t>
            </a:r>
            <a:r>
              <a:rPr dirty="0" err="1"/>
              <a:t>dává</a:t>
            </a:r>
            <a:r>
              <a:rPr dirty="0"/>
              <a:t> </a:t>
            </a:r>
            <a:r>
              <a:rPr dirty="0" err="1"/>
              <a:t>službě</a:t>
            </a:r>
            <a:r>
              <a:rPr dirty="0"/>
              <a:t> </a:t>
            </a:r>
            <a:r>
              <a:rPr dirty="0" err="1"/>
              <a:t>privátní</a:t>
            </a:r>
            <a:r>
              <a:rPr dirty="0"/>
              <a:t> IP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VNetu</a:t>
            </a:r>
            <a:r>
              <a:rPr dirty="0"/>
              <a:t>;</a:t>
            </a:r>
            <a:endParaRPr lang="cs-CZ" dirty="0"/>
          </a:p>
          <a:p>
            <a:pPr lvl="1"/>
            <a:r>
              <a:rPr dirty="0"/>
              <a:t>Service Endpoint </a:t>
            </a:r>
            <a:r>
              <a:rPr lang="cs-CZ" dirty="0"/>
              <a:t>zpřístupňuje </a:t>
            </a:r>
            <a:r>
              <a:rPr dirty="0" err="1"/>
              <a:t>službu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public </a:t>
            </a:r>
            <a:r>
              <a:rPr dirty="0" err="1"/>
              <a:t>endpointu</a:t>
            </a:r>
            <a:r>
              <a:rPr dirty="0"/>
              <a:t>.</a:t>
            </a:r>
          </a:p>
          <a:p>
            <a:r>
              <a:rPr dirty="0" err="1"/>
              <a:t>Proč</a:t>
            </a:r>
            <a:r>
              <a:rPr dirty="0"/>
              <a:t> </a:t>
            </a:r>
            <a:r>
              <a:rPr dirty="0" err="1"/>
              <a:t>preferovat</a:t>
            </a:r>
            <a:r>
              <a:rPr dirty="0"/>
              <a:t> Private Link?</a:t>
            </a:r>
          </a:p>
          <a:p>
            <a:pPr lvl="1"/>
            <a:r>
              <a:rPr dirty="0" err="1"/>
              <a:t>Snižuje</a:t>
            </a:r>
            <a:r>
              <a:rPr dirty="0"/>
              <a:t> exposure a </a:t>
            </a:r>
            <a:r>
              <a:rPr dirty="0" err="1"/>
              <a:t>provoz</a:t>
            </a:r>
            <a:r>
              <a:rPr dirty="0"/>
              <a:t> </a:t>
            </a:r>
            <a:r>
              <a:rPr dirty="0" err="1"/>
              <a:t>jde</a:t>
            </a:r>
            <a:r>
              <a:rPr dirty="0"/>
              <a:t> </a:t>
            </a:r>
            <a:r>
              <a:rPr dirty="0" err="1"/>
              <a:t>privátně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</a:t>
            </a:r>
            <a:r>
              <a:rPr lang="cs-CZ" dirty="0"/>
              <a:t>Azure </a:t>
            </a:r>
            <a:r>
              <a:rPr dirty="0"/>
              <a:t>backbone </a:t>
            </a:r>
            <a:r>
              <a:rPr dirty="0" err="1"/>
              <a:t>místo</a:t>
            </a:r>
            <a:r>
              <a:rPr dirty="0"/>
              <a:t> </a:t>
            </a:r>
            <a:r>
              <a:rPr dirty="0" err="1"/>
              <a:t>veřejného</a:t>
            </a:r>
            <a:r>
              <a:rPr dirty="0"/>
              <a:t> </a:t>
            </a:r>
            <a:r>
              <a:rPr dirty="0" err="1"/>
              <a:t>internetu</a:t>
            </a:r>
            <a:r>
              <a:rPr dirty="0"/>
              <a:t>.</a:t>
            </a:r>
          </a:p>
          <a:p>
            <a:r>
              <a:rPr dirty="0"/>
              <a:t>Co </a:t>
            </a:r>
            <a:r>
              <a:rPr dirty="0" err="1"/>
              <a:t>kromě</a:t>
            </a:r>
            <a:r>
              <a:rPr dirty="0"/>
              <a:t> </a:t>
            </a:r>
            <a:r>
              <a:rPr dirty="0" err="1"/>
              <a:t>sítě</a:t>
            </a:r>
            <a:r>
              <a:rPr dirty="0"/>
              <a:t> </a:t>
            </a:r>
            <a:r>
              <a:rPr dirty="0" err="1"/>
              <a:t>musím</a:t>
            </a:r>
            <a:r>
              <a:rPr dirty="0"/>
              <a:t> </a:t>
            </a:r>
            <a:r>
              <a:rPr dirty="0" err="1"/>
              <a:t>řešit</a:t>
            </a:r>
            <a:r>
              <a:rPr dirty="0"/>
              <a:t>?</a:t>
            </a:r>
          </a:p>
          <a:p>
            <a:pPr lvl="1"/>
            <a:r>
              <a:rPr dirty="0" err="1"/>
              <a:t>Hlavně</a:t>
            </a:r>
            <a:r>
              <a:rPr dirty="0"/>
              <a:t> DNS — bez </a:t>
            </a:r>
            <a:r>
              <a:rPr dirty="0" err="1"/>
              <a:t>správné</a:t>
            </a:r>
            <a:r>
              <a:rPr dirty="0"/>
              <a:t> </a:t>
            </a:r>
            <a:r>
              <a:rPr lang="cs-CZ" dirty="0"/>
              <a:t>DNS </a:t>
            </a:r>
            <a:r>
              <a:rPr lang="cs-CZ" dirty="0" err="1"/>
              <a:t>resolution</a:t>
            </a:r>
            <a:r>
              <a:rPr dirty="0"/>
              <a:t> </a:t>
            </a:r>
            <a:r>
              <a:rPr dirty="0" err="1"/>
              <a:t>klient</a:t>
            </a:r>
            <a:r>
              <a:rPr dirty="0"/>
              <a:t> </a:t>
            </a:r>
            <a:r>
              <a:rPr dirty="0" err="1"/>
              <a:t>typicky</a:t>
            </a:r>
            <a:r>
              <a:rPr dirty="0"/>
              <a:t> </a:t>
            </a:r>
            <a:r>
              <a:rPr dirty="0" err="1"/>
              <a:t>nepůjde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správnou</a:t>
            </a:r>
            <a:r>
              <a:rPr dirty="0"/>
              <a:t> IP.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t>Kdy endpoint do stejného VNetu a kdy do hubu?</a:t>
            </a:r>
          </a:p>
          <a:p>
            <a:pPr lvl="1"/>
            <a:r>
              <a:t>Stejný VNet = jednoduchost. Hub = centralizace, ale více práce s DNS a dosažitelností.</a:t>
            </a:r>
          </a:p>
          <a:p>
            <a:r>
              <a:t>Přístup z jiného VNetu nebo on-prem?</a:t>
            </a:r>
          </a:p>
          <a:p>
            <a:pPr lvl="1"/>
            <a:r>
              <a:t>Potřebuji jak síťovou cestu (peering / VPN / ER), tak správné DNS.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HAVIT">
      <a:dk1>
        <a:srgbClr val="2097D0"/>
      </a:dk1>
      <a:lt1>
        <a:sysClr val="window" lastClr="FFFFFF"/>
      </a:lt1>
      <a:dk2>
        <a:srgbClr val="114788"/>
      </a:dk2>
      <a:lt2>
        <a:srgbClr val="EEECE1"/>
      </a:lt2>
      <a:accent1>
        <a:srgbClr val="114788"/>
      </a:accent1>
      <a:accent2>
        <a:srgbClr val="C0504D"/>
      </a:accent2>
      <a:accent3>
        <a:srgbClr val="9BBB59"/>
      </a:accent3>
      <a:accent4>
        <a:srgbClr val="8064A2"/>
      </a:accent4>
      <a:accent5>
        <a:srgbClr val="2097D0"/>
      </a:accent5>
      <a:accent6>
        <a:srgbClr val="F79646"/>
      </a:accent6>
      <a:hlink>
        <a:srgbClr val="114788"/>
      </a:hlink>
      <a:folHlink>
        <a:srgbClr val="11478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9F2E4212-A0EE-40A4-88FA-F1F8352CAEB6}" vid="{EB65DDFE-1B01-4C27-A0C1-7AD2A0F4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9c8466-cf41-4d4f-9da4-9598544784ed" xsi:nil="true"/>
    <lcf76f155ced4ddcb4097134ff3c332f xmlns="626f88f1-4599-497f-aa82-0d676a51380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ED9D5FE1F44145801737A7BA47560B" ma:contentTypeVersion="15" ma:contentTypeDescription="Vytvoří nový dokument" ma:contentTypeScope="" ma:versionID="2e279c1b4e1032defab6226ff393b6ee">
  <xsd:schema xmlns:xsd="http://www.w3.org/2001/XMLSchema" xmlns:xs="http://www.w3.org/2001/XMLSchema" xmlns:p="http://schemas.microsoft.com/office/2006/metadata/properties" xmlns:ns2="626f88f1-4599-497f-aa82-0d676a513807" xmlns:ns3="099c8466-cf41-4d4f-9da4-9598544784ed" targetNamespace="http://schemas.microsoft.com/office/2006/metadata/properties" ma:root="true" ma:fieldsID="80676d2009bca085877e70bb06bc3195" ns2:_="" ns3:_="">
    <xsd:import namespace="626f88f1-4599-497f-aa82-0d676a513807"/>
    <xsd:import namespace="099c8466-cf41-4d4f-9da4-9598544784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f88f1-4599-497f-aa82-0d676a5138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Značky obrázků" ma:readOnly="false" ma:fieldId="{5cf76f15-5ced-4ddc-b409-7134ff3c332f}" ma:taxonomyMulti="true" ma:sspId="62be5f0a-8b6d-4e26-b011-0582f873ac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c8466-cf41-4d4f-9da4-9598544784e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a3b925-c962-46b4-bc45-d489af600e1d}" ma:internalName="TaxCatchAll" ma:showField="CatchAllData" ma:web="099c8466-cf41-4d4f-9da4-9598544784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EEC909-A468-4E03-8981-C60975976E4B}">
  <ds:schemaRefs>
    <ds:schemaRef ds:uri="http://schemas.microsoft.com/office/2006/metadata/properties"/>
    <ds:schemaRef ds:uri="http://schemas.microsoft.com/office/infopath/2007/PartnerControls"/>
    <ds:schemaRef ds:uri="099c8466-cf41-4d4f-9da4-9598544784ed"/>
    <ds:schemaRef ds:uri="626f88f1-4599-497f-aa82-0d676a513807"/>
  </ds:schemaRefs>
</ds:datastoreItem>
</file>

<file path=customXml/itemProps2.xml><?xml version="1.0" encoding="utf-8"?>
<ds:datastoreItem xmlns:ds="http://schemas.openxmlformats.org/officeDocument/2006/customXml" ds:itemID="{44C62D62-8F68-4393-B929-852AE5C5F5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6f88f1-4599-497f-aa82-0d676a513807"/>
    <ds:schemaRef ds:uri="099c8466-cf41-4d4f-9da4-9598544784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15B757-5547-464A-9BA8-F3FADFF766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Motiv Office</Template>
  <TotalTime>1382</TotalTime>
  <Words>1671</Words>
  <Application>Microsoft Macintosh PowerPoint</Application>
  <PresentationFormat>Širokoúhlá obrazovka</PresentationFormat>
  <Paragraphs>210</Paragraphs>
  <Slides>22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5" baseType="lpstr">
      <vt:lpstr>Arial</vt:lpstr>
      <vt:lpstr>Calibri</vt:lpstr>
      <vt:lpstr>Motiv Office</vt:lpstr>
      <vt:lpstr>Azure Networking v praxi VNETs/Subnets · peering · NSG · Private Link </vt:lpstr>
      <vt:lpstr>Co si odnést</vt:lpstr>
      <vt:lpstr>Proč VNety řešit i ve světě PaaS</vt:lpstr>
      <vt:lpstr>High-level mapa pojmů</vt:lpstr>
      <vt:lpstr>Jak se Azure spravuje</vt:lpstr>
      <vt:lpstr>Blok A: VNet peering + NSG</vt:lpstr>
      <vt:lpstr>Výchozí prostředí</vt:lpstr>
      <vt:lpstr>VNet a subnety</vt:lpstr>
      <vt:lpstr>VNet peering = konektivita mezi VNety</vt:lpstr>
      <vt:lpstr>NSG = politika provozu</vt:lpstr>
      <vt:lpstr>Blok A: shrnutí</vt:lpstr>
      <vt:lpstr>Blok B - Přepínáme mentální model</vt:lpstr>
      <vt:lpstr>Blok B: z Network &lt;-&gt; Network na Aplikace &lt;-&gt; Služba</vt:lpstr>
      <vt:lpstr>Prezentace aplikace PowerPoint</vt:lpstr>
      <vt:lpstr>Private Endpoint: služba s konektorem ve VNetu</vt:lpstr>
      <vt:lpstr>Private Endpoint v praxi</vt:lpstr>
      <vt:lpstr>DNS u Private Linku</vt:lpstr>
      <vt:lpstr>DNS ověření v praxi</vt:lpstr>
      <vt:lpstr>Peering vs. Private Link</vt:lpstr>
      <vt:lpstr>Závěr</vt:lpstr>
      <vt:lpstr>Appendix: advanced questions - blok A</vt:lpstr>
      <vt:lpstr>Appendix: advanced questions - blok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Hrubý Daniel</dc:creator>
  <dc:description/>
  <cp:lastModifiedBy>Hrubý Daniel</cp:lastModifiedBy>
  <cp:revision>21</cp:revision>
  <dcterms:created xsi:type="dcterms:W3CDTF">2026-03-26T08:46:54Z</dcterms:created>
  <dcterms:modified xsi:type="dcterms:W3CDTF">2026-03-30T12:18:12Z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0x0101000FED9D5FE1F44145801737A7BA47560B</vt:lpwstr>
  </property>
  <property fmtid="{D5CDD505-2E9C-101B-9397-08002B2CF9AE}" pid="3" name="MediaServiceImageTags">
    <vt:lpwstr/>
  </property>
</Properties>
</file>